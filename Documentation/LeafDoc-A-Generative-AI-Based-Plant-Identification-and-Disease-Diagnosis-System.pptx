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4630400" cy="8229600"/>
  <p:notesSz cx="8229600" cy="14630400"/>
  <p:embeddedFontLst>
    <p:embeddedFont>
      <p:font typeface="Outfit Extra Bold" panose="020B0604020202020204" charset="0"/>
      <p:regular r:id="rId12"/>
    </p:embeddedFont>
    <p:embeddedFont>
      <p:font typeface="Arimo" panose="020B0604020202020204" charset="0"/>
      <p:regular r:id="rId13"/>
    </p:embeddedFont>
    <p:embeddedFont>
      <p:font typeface="Calibri" panose="020F0502020204030204" pitchFamily="34" charset="0"/>
      <p:regular r:id="rId14"/>
      <p:bold r:id="rId15"/>
      <p:italic r:id="rId16"/>
      <p:boldItalic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9" d="100"/>
          <a:sy n="79" d="100"/>
        </p:scale>
        <p:origin x="17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276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5-6.svg"/><Relationship Id="rId5" Type="http://schemas.openxmlformats.org/officeDocument/2006/relationships/image" Target="../media/image-5-4.svg"/><Relationship Id="rId4" Type="http://schemas.openxmlformats.org/officeDocument/2006/relationships/image" Target="../media/image-5-2.sv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8" Type="http://schemas.openxmlformats.org/officeDocument/2006/relationships/image" Target="../media/image-7-8.svg"/><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7-6.svg"/><Relationship Id="rId5" Type="http://schemas.openxmlformats.org/officeDocument/2006/relationships/image" Target="../media/image-7-4.svg"/><Relationship Id="rId4" Type="http://schemas.openxmlformats.org/officeDocument/2006/relationships/image" Target="../media/image-7-2.sv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697242"/>
            <a:ext cx="7556421" cy="2835116"/>
          </a:xfrm>
          <a:prstGeom prst="rect">
            <a:avLst/>
          </a:prstGeom>
          <a:noFill/>
          <a:ln/>
        </p:spPr>
        <p:txBody>
          <a:bodyPr wrap="square" lIns="0" tIns="0" rIns="0" bIns="0" rtlCol="0" anchor="t"/>
          <a:lstStyle/>
          <a:p>
            <a:pPr marL="0" indent="0" algn="l">
              <a:lnSpc>
                <a:spcPts val="5550"/>
              </a:lnSpc>
              <a:buNone/>
            </a:pPr>
            <a:r>
              <a:rPr lang="en-US" sz="4450" b="1" dirty="0">
                <a:solidFill>
                  <a:srgbClr val="231971"/>
                </a:solidFill>
                <a:latin typeface="Outfit Extra Bold" pitchFamily="34" charset="0"/>
                <a:ea typeface="Outfit Extra Bold" pitchFamily="34" charset="-122"/>
                <a:cs typeface="Outfit Extra Bold" pitchFamily="34" charset="-120"/>
              </a:rPr>
              <a:t>LeafDoc: A Generative AI–Based Plant Identification and Disease Diagnosis System</a:t>
            </a:r>
            <a:endParaRPr lang="en-US" sz="4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623768"/>
            <a:ext cx="4536519" cy="566976"/>
          </a:xfrm>
          <a:prstGeom prst="rect">
            <a:avLst/>
          </a:prstGeom>
          <a:noFill/>
          <a:ln/>
        </p:spPr>
        <p:txBody>
          <a:bodyPr wrap="none" lIns="0" tIns="0" rIns="0" bIns="0" rtlCol="0" anchor="t"/>
          <a:lstStyle/>
          <a:p>
            <a:pPr marL="0" indent="0" algn="l">
              <a:lnSpc>
                <a:spcPts val="4450"/>
              </a:lnSpc>
              <a:buNone/>
            </a:pPr>
            <a:r>
              <a:rPr lang="en-US" sz="3550" b="1" dirty="0">
                <a:solidFill>
                  <a:srgbClr val="231971"/>
                </a:solidFill>
                <a:latin typeface="Outfit Extra Bold" pitchFamily="34" charset="0"/>
                <a:ea typeface="Outfit Extra Bold" pitchFamily="34" charset="-122"/>
                <a:cs typeface="Outfit Extra Bold" pitchFamily="34" charset="-120"/>
              </a:rPr>
              <a:t>Introduction</a:t>
            </a:r>
            <a:endParaRPr lang="en-US" sz="3550" dirty="0"/>
          </a:p>
        </p:txBody>
      </p:sp>
      <p:sp>
        <p:nvSpPr>
          <p:cNvPr id="3" name="Text 1"/>
          <p:cNvSpPr/>
          <p:nvPr/>
        </p:nvSpPr>
        <p:spPr>
          <a:xfrm>
            <a:off x="793790" y="1734979"/>
            <a:ext cx="6924437" cy="1814513"/>
          </a:xfrm>
          <a:prstGeom prst="rect">
            <a:avLst/>
          </a:prstGeom>
          <a:noFill/>
          <a:ln/>
        </p:spPr>
        <p:txBody>
          <a:bodyPr wrap="square" lIns="0" tIns="0" rIns="0" bIns="0" rtlCol="0" anchor="t"/>
          <a:lstStyle/>
          <a:p>
            <a:pPr marL="0" indent="0" algn="l">
              <a:lnSpc>
                <a:spcPts val="2850"/>
              </a:lnSpc>
              <a:buNone/>
            </a:pPr>
            <a:r>
              <a:rPr lang="en-US" sz="1750" b="1" dirty="0">
                <a:solidFill>
                  <a:srgbClr val="2A2742"/>
                </a:solidFill>
                <a:latin typeface="Arimo" pitchFamily="34" charset="0"/>
                <a:ea typeface="Arimo" pitchFamily="34" charset="-122"/>
                <a:cs typeface="Arimo" pitchFamily="34" charset="-120"/>
              </a:rPr>
              <a:t>LeafDoc</a:t>
            </a:r>
            <a:r>
              <a:rPr lang="en-US" sz="1750" dirty="0">
                <a:solidFill>
                  <a:srgbClr val="2A2742"/>
                </a:solidFill>
                <a:latin typeface="Arimo" pitchFamily="34" charset="0"/>
                <a:ea typeface="Arimo" pitchFamily="34" charset="-122"/>
                <a:cs typeface="Arimo" pitchFamily="34" charset="-120"/>
              </a:rPr>
              <a:t>, an AI-assisted system designed for plant identification and disease diagnosis using image-based analysis. Identifying plant species and detecting plant diseases at an early stage is often challenging for farmers and non-expert users due to dependence on expert knowledge and traditional manual </a:t>
            </a:r>
            <a:r>
              <a:rPr lang="en-US" sz="1750" smtClean="0">
                <a:solidFill>
                  <a:srgbClr val="2A2742"/>
                </a:solidFill>
                <a:latin typeface="Arimo" pitchFamily="34" charset="0"/>
                <a:ea typeface="Arimo" pitchFamily="34" charset="-122"/>
                <a:cs typeface="Arimo" pitchFamily="34" charset="-120"/>
              </a:rPr>
              <a:t>methods.</a:t>
            </a:r>
            <a:endParaRPr lang="en-US" sz="1750" dirty="0"/>
          </a:p>
        </p:txBody>
      </p:sp>
      <p:sp>
        <p:nvSpPr>
          <p:cNvPr id="4" name="Text 2"/>
          <p:cNvSpPr/>
          <p:nvPr/>
        </p:nvSpPr>
        <p:spPr>
          <a:xfrm>
            <a:off x="793790" y="3753564"/>
            <a:ext cx="6924437" cy="2177415"/>
          </a:xfrm>
          <a:prstGeom prst="rect">
            <a:avLst/>
          </a:prstGeom>
          <a:noFill/>
          <a:ln/>
        </p:spPr>
        <p:txBody>
          <a:bodyPr wrap="square" lIns="0" tIns="0" rIns="0" bIns="0" rtlCol="0" anchor="t"/>
          <a:lstStyle/>
          <a:p>
            <a:pPr marL="0" indent="0" algn="l">
              <a:lnSpc>
                <a:spcPts val="2850"/>
              </a:lnSpc>
              <a:buNone/>
            </a:pPr>
            <a:r>
              <a:rPr lang="en-US" sz="1750" dirty="0">
                <a:solidFill>
                  <a:srgbClr val="2A2742"/>
                </a:solidFill>
                <a:latin typeface="Arimo" pitchFamily="34" charset="0"/>
                <a:ea typeface="Arimo" pitchFamily="34" charset="-122"/>
                <a:cs typeface="Arimo" pitchFamily="34" charset="-120"/>
              </a:rPr>
              <a:t>LeafDoc addresses this challenge by providing a web-based solution that first identifies the plant from an uploaded image and then analyzes it for possible diseases. Based on the analysis, the system provides basic treatment suggestions and plant care guidance, aiming to support farmers, gardeners, and students through an accessible and easy-to-use plant health monitoring tool.</a:t>
            </a:r>
            <a:endParaRPr lang="en-US" sz="1750" dirty="0"/>
          </a:p>
        </p:txBody>
      </p:sp>
      <p:pic>
        <p:nvPicPr>
          <p:cNvPr id="5" name="Image 0" descr="preencoded.png"/>
          <p:cNvPicPr>
            <a:picLocks noChangeAspect="1"/>
          </p:cNvPicPr>
          <p:nvPr/>
        </p:nvPicPr>
        <p:blipFill>
          <a:blip r:embed="rId3"/>
          <a:stretch>
            <a:fillRect/>
          </a:stretch>
        </p:blipFill>
        <p:spPr>
          <a:xfrm>
            <a:off x="8279249" y="1786057"/>
            <a:ext cx="5564862" cy="556486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542217" y="651034"/>
            <a:ext cx="3650813" cy="456248"/>
          </a:xfrm>
          <a:prstGeom prst="rect">
            <a:avLst/>
          </a:prstGeom>
          <a:noFill/>
          <a:ln/>
        </p:spPr>
        <p:txBody>
          <a:bodyPr wrap="none" lIns="0" tIns="0" rIns="0" bIns="0" rtlCol="0" anchor="t"/>
          <a:lstStyle/>
          <a:p>
            <a:pPr marL="0" indent="0" algn="l">
              <a:lnSpc>
                <a:spcPts val="3550"/>
              </a:lnSpc>
              <a:buNone/>
            </a:pPr>
            <a:r>
              <a:rPr lang="en-US" sz="2850" b="1" dirty="0">
                <a:solidFill>
                  <a:srgbClr val="231971"/>
                </a:solidFill>
                <a:latin typeface="Outfit Extra Bold" pitchFamily="34" charset="0"/>
                <a:ea typeface="Outfit Extra Bold" pitchFamily="34" charset="-122"/>
                <a:cs typeface="Outfit Extra Bold" pitchFamily="34" charset="-120"/>
              </a:rPr>
              <a:t>Literature Review</a:t>
            </a:r>
            <a:endParaRPr lang="en-US" sz="2850" dirty="0"/>
          </a:p>
        </p:txBody>
      </p:sp>
      <p:sp>
        <p:nvSpPr>
          <p:cNvPr id="3" name="Text 1"/>
          <p:cNvSpPr/>
          <p:nvPr/>
        </p:nvSpPr>
        <p:spPr>
          <a:xfrm>
            <a:off x="1542217" y="1472327"/>
            <a:ext cx="11545848" cy="583883"/>
          </a:xfrm>
          <a:prstGeom prst="rect">
            <a:avLst/>
          </a:prstGeom>
          <a:noFill/>
          <a:ln/>
        </p:spPr>
        <p:txBody>
          <a:bodyPr wrap="square" lIns="0" tIns="0" rIns="0" bIns="0" rtlCol="0" anchor="t"/>
          <a:lstStyle/>
          <a:p>
            <a:pPr marL="0" indent="0" algn="l">
              <a:lnSpc>
                <a:spcPts val="2250"/>
              </a:lnSpc>
              <a:buNone/>
            </a:pPr>
            <a:r>
              <a:rPr lang="en-US" sz="1400" dirty="0">
                <a:solidFill>
                  <a:srgbClr val="2A2742"/>
                </a:solidFill>
                <a:latin typeface="Arimo" pitchFamily="34" charset="0"/>
                <a:ea typeface="Arimo" pitchFamily="34" charset="-122"/>
                <a:cs typeface="Arimo" pitchFamily="34" charset="-120"/>
              </a:rPr>
              <a:t>Our research journey began by exploring existing work in AI-driven plant identification and disease diagnosis. Existing studies highlight the following:</a:t>
            </a:r>
            <a:endParaRPr lang="en-US" sz="1400" dirty="0"/>
          </a:p>
        </p:txBody>
      </p:sp>
      <p:sp>
        <p:nvSpPr>
          <p:cNvPr id="4" name="Shape 2"/>
          <p:cNvSpPr/>
          <p:nvPr/>
        </p:nvSpPr>
        <p:spPr>
          <a:xfrm>
            <a:off x="1542217" y="2261473"/>
            <a:ext cx="5681662" cy="2684621"/>
          </a:xfrm>
          <a:prstGeom prst="roundRect">
            <a:avLst>
              <a:gd name="adj" fmla="val 4087"/>
            </a:avLst>
          </a:prstGeom>
          <a:solidFill>
            <a:srgbClr val="FAFAFA">
              <a:alpha val="95000"/>
            </a:srgbClr>
          </a:solidFill>
          <a:ln w="22860">
            <a:solidFill>
              <a:srgbClr val="BDB8DF"/>
            </a:solidFill>
            <a:prstDash val="solid"/>
          </a:ln>
        </p:spPr>
      </p:sp>
      <p:sp>
        <p:nvSpPr>
          <p:cNvPr id="5" name="Shape 3"/>
          <p:cNvSpPr/>
          <p:nvPr/>
        </p:nvSpPr>
        <p:spPr>
          <a:xfrm>
            <a:off x="1519357" y="2261473"/>
            <a:ext cx="91440" cy="2684621"/>
          </a:xfrm>
          <a:prstGeom prst="roundRect">
            <a:avLst>
              <a:gd name="adj" fmla="val 83846"/>
            </a:avLst>
          </a:prstGeom>
          <a:solidFill>
            <a:srgbClr val="5E4CE6"/>
          </a:solidFill>
          <a:ln/>
        </p:spPr>
      </p:sp>
      <p:sp>
        <p:nvSpPr>
          <p:cNvPr id="6" name="Text 4"/>
          <p:cNvSpPr/>
          <p:nvPr/>
        </p:nvSpPr>
        <p:spPr>
          <a:xfrm>
            <a:off x="1816179" y="2466856"/>
            <a:ext cx="3412808" cy="285155"/>
          </a:xfrm>
          <a:prstGeom prst="rect">
            <a:avLst/>
          </a:prstGeom>
          <a:noFill/>
          <a:ln/>
        </p:spPr>
        <p:txBody>
          <a:bodyPr wrap="none" lIns="0" tIns="0" rIns="0" bIns="0" rtlCol="0" anchor="t"/>
          <a:lstStyle/>
          <a:p>
            <a:pPr marL="0" indent="0" algn="l">
              <a:lnSpc>
                <a:spcPts val="2200"/>
              </a:lnSpc>
              <a:buNone/>
            </a:pPr>
            <a:r>
              <a:rPr lang="en-US" sz="1750" b="1" dirty="0">
                <a:solidFill>
                  <a:srgbClr val="2A2742"/>
                </a:solidFill>
                <a:latin typeface="Outfit Extra Bold" pitchFamily="34" charset="0"/>
                <a:ea typeface="Outfit Extra Bold" pitchFamily="34" charset="-122"/>
                <a:cs typeface="Outfit Extra Bold" pitchFamily="34" charset="-120"/>
              </a:rPr>
              <a:t>Image-Based Disease Detection</a:t>
            </a:r>
            <a:endParaRPr lang="en-US" sz="1750" dirty="0"/>
          </a:p>
        </p:txBody>
      </p:sp>
      <p:sp>
        <p:nvSpPr>
          <p:cNvPr id="7" name="Text 5"/>
          <p:cNvSpPr/>
          <p:nvPr/>
        </p:nvSpPr>
        <p:spPr>
          <a:xfrm>
            <a:off x="1816179" y="2861429"/>
            <a:ext cx="5202317" cy="583883"/>
          </a:xfrm>
          <a:prstGeom prst="rect">
            <a:avLst/>
          </a:prstGeom>
          <a:noFill/>
          <a:ln/>
        </p:spPr>
        <p:txBody>
          <a:bodyPr wrap="square" lIns="0" tIns="0" rIns="0" bIns="0" rtlCol="0" anchor="t"/>
          <a:lstStyle/>
          <a:p>
            <a:pPr marL="342900" indent="-342900" algn="l">
              <a:lnSpc>
                <a:spcPts val="2250"/>
              </a:lnSpc>
              <a:buSzPct val="100000"/>
              <a:buChar char="•"/>
            </a:pPr>
            <a:r>
              <a:rPr lang="en-US" sz="1400" dirty="0">
                <a:solidFill>
                  <a:srgbClr val="2A2742"/>
                </a:solidFill>
                <a:latin typeface="Arimo" pitchFamily="34" charset="0"/>
                <a:ea typeface="Arimo" pitchFamily="34" charset="-122"/>
                <a:cs typeface="Arimo" pitchFamily="34" charset="-120"/>
              </a:rPr>
              <a:t>Several systems use image analysis for plant disease detection.</a:t>
            </a:r>
            <a:endParaRPr lang="en-US" sz="1400" dirty="0"/>
          </a:p>
        </p:txBody>
      </p:sp>
      <p:sp>
        <p:nvSpPr>
          <p:cNvPr id="8" name="Text 6"/>
          <p:cNvSpPr/>
          <p:nvPr/>
        </p:nvSpPr>
        <p:spPr>
          <a:xfrm>
            <a:off x="1816179" y="3509129"/>
            <a:ext cx="5202317" cy="583883"/>
          </a:xfrm>
          <a:prstGeom prst="rect">
            <a:avLst/>
          </a:prstGeom>
          <a:noFill/>
          <a:ln/>
        </p:spPr>
        <p:txBody>
          <a:bodyPr wrap="square" lIns="0" tIns="0" rIns="0" bIns="0" rtlCol="0" anchor="t"/>
          <a:lstStyle/>
          <a:p>
            <a:pPr marL="342900" indent="-342900" algn="l">
              <a:lnSpc>
                <a:spcPts val="2250"/>
              </a:lnSpc>
              <a:buSzPct val="100000"/>
              <a:buChar char="•"/>
            </a:pPr>
            <a:r>
              <a:rPr lang="en-US" sz="1400" dirty="0">
                <a:solidFill>
                  <a:srgbClr val="2A2742"/>
                </a:solidFill>
                <a:latin typeface="Arimo" pitchFamily="34" charset="0"/>
                <a:ea typeface="Arimo" pitchFamily="34" charset="-122"/>
                <a:cs typeface="Arimo" pitchFamily="34" charset="-120"/>
              </a:rPr>
              <a:t>Most approaches rely on machine learning or deep learning techniques.</a:t>
            </a:r>
            <a:endParaRPr lang="en-US" sz="1400" dirty="0"/>
          </a:p>
        </p:txBody>
      </p:sp>
      <p:sp>
        <p:nvSpPr>
          <p:cNvPr id="9" name="Text 7"/>
          <p:cNvSpPr/>
          <p:nvPr/>
        </p:nvSpPr>
        <p:spPr>
          <a:xfrm>
            <a:off x="1816179" y="4156829"/>
            <a:ext cx="5202317" cy="583883"/>
          </a:xfrm>
          <a:prstGeom prst="rect">
            <a:avLst/>
          </a:prstGeom>
          <a:noFill/>
          <a:ln/>
        </p:spPr>
        <p:txBody>
          <a:bodyPr wrap="square" lIns="0" tIns="0" rIns="0" bIns="0" rtlCol="0" anchor="t"/>
          <a:lstStyle/>
          <a:p>
            <a:pPr marL="342900" indent="-342900" algn="l">
              <a:lnSpc>
                <a:spcPts val="2250"/>
              </a:lnSpc>
              <a:buSzPct val="100000"/>
              <a:buChar char="•"/>
            </a:pPr>
            <a:r>
              <a:rPr lang="en-US" sz="1400" dirty="0">
                <a:solidFill>
                  <a:srgbClr val="2A2742"/>
                </a:solidFill>
                <a:latin typeface="Arimo" pitchFamily="34" charset="0"/>
                <a:ea typeface="Arimo" pitchFamily="34" charset="-122"/>
                <a:cs typeface="Arimo" pitchFamily="34" charset="-120"/>
              </a:rPr>
              <a:t>These systems usually assume the plant species is already known.</a:t>
            </a:r>
            <a:endParaRPr lang="en-US" sz="1400" dirty="0"/>
          </a:p>
        </p:txBody>
      </p:sp>
      <p:sp>
        <p:nvSpPr>
          <p:cNvPr id="10" name="Shape 8"/>
          <p:cNvSpPr/>
          <p:nvPr/>
        </p:nvSpPr>
        <p:spPr>
          <a:xfrm>
            <a:off x="7406402" y="2261473"/>
            <a:ext cx="5681662" cy="2684621"/>
          </a:xfrm>
          <a:prstGeom prst="roundRect">
            <a:avLst>
              <a:gd name="adj" fmla="val 4087"/>
            </a:avLst>
          </a:prstGeom>
          <a:solidFill>
            <a:srgbClr val="FAFAFA">
              <a:alpha val="95000"/>
            </a:srgbClr>
          </a:solidFill>
          <a:ln w="22860">
            <a:solidFill>
              <a:srgbClr val="BDB8DF"/>
            </a:solidFill>
            <a:prstDash val="solid"/>
          </a:ln>
        </p:spPr>
      </p:sp>
      <p:sp>
        <p:nvSpPr>
          <p:cNvPr id="11" name="Shape 9"/>
          <p:cNvSpPr/>
          <p:nvPr/>
        </p:nvSpPr>
        <p:spPr>
          <a:xfrm>
            <a:off x="7383542" y="2261473"/>
            <a:ext cx="91440" cy="2684621"/>
          </a:xfrm>
          <a:prstGeom prst="roundRect">
            <a:avLst>
              <a:gd name="adj" fmla="val 83846"/>
            </a:avLst>
          </a:prstGeom>
          <a:solidFill>
            <a:srgbClr val="5E4CE6"/>
          </a:solidFill>
          <a:ln/>
        </p:spPr>
      </p:sp>
      <p:sp>
        <p:nvSpPr>
          <p:cNvPr id="12" name="Text 10"/>
          <p:cNvSpPr/>
          <p:nvPr/>
        </p:nvSpPr>
        <p:spPr>
          <a:xfrm>
            <a:off x="7680365" y="2466856"/>
            <a:ext cx="3528417" cy="342305"/>
          </a:xfrm>
          <a:prstGeom prst="rect">
            <a:avLst/>
          </a:prstGeom>
          <a:noFill/>
          <a:ln/>
        </p:spPr>
        <p:txBody>
          <a:bodyPr wrap="none" lIns="0" tIns="0" rIns="0" bIns="0" rtlCol="0" anchor="t"/>
          <a:lstStyle/>
          <a:p>
            <a:pPr marL="0" indent="0" algn="l">
              <a:lnSpc>
                <a:spcPts val="2650"/>
              </a:lnSpc>
              <a:buNone/>
            </a:pPr>
            <a:r>
              <a:rPr lang="en-US" sz="2150" b="1" dirty="0">
                <a:solidFill>
                  <a:srgbClr val="2A2742"/>
                </a:solidFill>
                <a:latin typeface="Outfit Extra Bold" pitchFamily="34" charset="0"/>
                <a:ea typeface="Outfit Extra Bold" pitchFamily="34" charset="-122"/>
                <a:cs typeface="Outfit Extra Bold" pitchFamily="34" charset="-120"/>
              </a:rPr>
              <a:t>Plant Identification Systems</a:t>
            </a:r>
            <a:endParaRPr lang="en-US" sz="2150" dirty="0"/>
          </a:p>
        </p:txBody>
      </p:sp>
      <p:sp>
        <p:nvSpPr>
          <p:cNvPr id="13" name="Text 11"/>
          <p:cNvSpPr/>
          <p:nvPr/>
        </p:nvSpPr>
        <p:spPr>
          <a:xfrm>
            <a:off x="7680365" y="2918579"/>
            <a:ext cx="5202317" cy="291941"/>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2A2742"/>
                </a:solidFill>
                <a:latin typeface="Arimo" pitchFamily="34" charset="0"/>
                <a:ea typeface="Arimo" pitchFamily="34" charset="-122"/>
                <a:cs typeface="Arimo" pitchFamily="34" charset="-120"/>
              </a:rPr>
              <a:t>Image-based plant identification tools have been developed.</a:t>
            </a:r>
            <a:endParaRPr lang="en-US" sz="1400" dirty="0"/>
          </a:p>
        </p:txBody>
      </p:sp>
      <p:sp>
        <p:nvSpPr>
          <p:cNvPr id="14" name="Text 12"/>
          <p:cNvSpPr/>
          <p:nvPr/>
        </p:nvSpPr>
        <p:spPr>
          <a:xfrm>
            <a:off x="7680365" y="3274338"/>
            <a:ext cx="5202317" cy="291941"/>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2A2742"/>
                </a:solidFill>
                <a:latin typeface="Arimo" pitchFamily="34" charset="0"/>
                <a:ea typeface="Arimo" pitchFamily="34" charset="-122"/>
                <a:cs typeface="Arimo" pitchFamily="34" charset="-120"/>
              </a:rPr>
              <a:t>Such systems focus only on identifying plant species.</a:t>
            </a:r>
            <a:endParaRPr lang="en-US" sz="1400" dirty="0"/>
          </a:p>
        </p:txBody>
      </p:sp>
      <p:sp>
        <p:nvSpPr>
          <p:cNvPr id="15" name="Text 13"/>
          <p:cNvSpPr/>
          <p:nvPr/>
        </p:nvSpPr>
        <p:spPr>
          <a:xfrm>
            <a:off x="7680365" y="3630097"/>
            <a:ext cx="5202317" cy="583883"/>
          </a:xfrm>
          <a:prstGeom prst="rect">
            <a:avLst/>
          </a:prstGeom>
          <a:noFill/>
          <a:ln/>
        </p:spPr>
        <p:txBody>
          <a:bodyPr wrap="square" lIns="0" tIns="0" rIns="0" bIns="0" rtlCol="0" anchor="t"/>
          <a:lstStyle/>
          <a:p>
            <a:pPr marL="342900" indent="-342900" algn="l">
              <a:lnSpc>
                <a:spcPts val="2250"/>
              </a:lnSpc>
              <a:buSzPct val="100000"/>
              <a:buChar char="•"/>
            </a:pPr>
            <a:r>
              <a:rPr lang="en-US" sz="1400" dirty="0">
                <a:solidFill>
                  <a:srgbClr val="2A2742"/>
                </a:solidFill>
                <a:latin typeface="Arimo" pitchFamily="34" charset="0"/>
                <a:ea typeface="Arimo" pitchFamily="34" charset="-122"/>
                <a:cs typeface="Arimo" pitchFamily="34" charset="-120"/>
              </a:rPr>
              <a:t>Disease diagnosis and treatment support are generally not included.</a:t>
            </a:r>
            <a:endParaRPr lang="en-US" sz="1400" dirty="0"/>
          </a:p>
        </p:txBody>
      </p:sp>
      <p:sp>
        <p:nvSpPr>
          <p:cNvPr id="16" name="Shape 14"/>
          <p:cNvSpPr/>
          <p:nvPr/>
        </p:nvSpPr>
        <p:spPr>
          <a:xfrm>
            <a:off x="1542217" y="5128617"/>
            <a:ext cx="5681662" cy="2449830"/>
          </a:xfrm>
          <a:prstGeom prst="roundRect">
            <a:avLst>
              <a:gd name="adj" fmla="val 4479"/>
            </a:avLst>
          </a:prstGeom>
          <a:solidFill>
            <a:srgbClr val="FAFAFA">
              <a:alpha val="95000"/>
            </a:srgbClr>
          </a:solidFill>
          <a:ln w="22860">
            <a:solidFill>
              <a:srgbClr val="BDB8DF"/>
            </a:solidFill>
            <a:prstDash val="solid"/>
          </a:ln>
        </p:spPr>
      </p:sp>
      <p:sp>
        <p:nvSpPr>
          <p:cNvPr id="17" name="Shape 15"/>
          <p:cNvSpPr/>
          <p:nvPr/>
        </p:nvSpPr>
        <p:spPr>
          <a:xfrm>
            <a:off x="1519357" y="5128617"/>
            <a:ext cx="91440" cy="2449830"/>
          </a:xfrm>
          <a:prstGeom prst="roundRect">
            <a:avLst>
              <a:gd name="adj" fmla="val 83846"/>
            </a:avLst>
          </a:prstGeom>
          <a:solidFill>
            <a:srgbClr val="5E4CE6"/>
          </a:solidFill>
          <a:ln/>
        </p:spPr>
      </p:sp>
      <p:sp>
        <p:nvSpPr>
          <p:cNvPr id="18" name="Text 16"/>
          <p:cNvSpPr/>
          <p:nvPr/>
        </p:nvSpPr>
        <p:spPr>
          <a:xfrm>
            <a:off x="1816179" y="5334000"/>
            <a:ext cx="3759160" cy="342305"/>
          </a:xfrm>
          <a:prstGeom prst="rect">
            <a:avLst/>
          </a:prstGeom>
          <a:noFill/>
          <a:ln/>
        </p:spPr>
        <p:txBody>
          <a:bodyPr wrap="none" lIns="0" tIns="0" rIns="0" bIns="0" rtlCol="0" anchor="t"/>
          <a:lstStyle/>
          <a:p>
            <a:pPr marL="0" indent="0" algn="l">
              <a:lnSpc>
                <a:spcPts val="2650"/>
              </a:lnSpc>
              <a:buNone/>
            </a:pPr>
            <a:r>
              <a:rPr lang="en-US" sz="2150" b="1" dirty="0">
                <a:solidFill>
                  <a:srgbClr val="2A2742"/>
                </a:solidFill>
                <a:latin typeface="Outfit Extra Bold" pitchFamily="34" charset="0"/>
                <a:ea typeface="Outfit Extra Bold" pitchFamily="34" charset="-122"/>
                <a:cs typeface="Outfit Extra Bold" pitchFamily="34" charset="-120"/>
              </a:rPr>
              <a:t>Agricultural Advisory Systems</a:t>
            </a:r>
            <a:endParaRPr lang="en-US" sz="2150" dirty="0"/>
          </a:p>
        </p:txBody>
      </p:sp>
      <p:sp>
        <p:nvSpPr>
          <p:cNvPr id="19" name="Text 17"/>
          <p:cNvSpPr/>
          <p:nvPr/>
        </p:nvSpPr>
        <p:spPr>
          <a:xfrm>
            <a:off x="1816179" y="5785723"/>
            <a:ext cx="5202317" cy="583883"/>
          </a:xfrm>
          <a:prstGeom prst="rect">
            <a:avLst/>
          </a:prstGeom>
          <a:noFill/>
          <a:ln/>
        </p:spPr>
        <p:txBody>
          <a:bodyPr wrap="square" lIns="0" tIns="0" rIns="0" bIns="0" rtlCol="0" anchor="t"/>
          <a:lstStyle/>
          <a:p>
            <a:pPr marL="342900" indent="-342900" algn="l">
              <a:lnSpc>
                <a:spcPts val="2250"/>
              </a:lnSpc>
              <a:buSzPct val="100000"/>
              <a:buChar char="•"/>
            </a:pPr>
            <a:r>
              <a:rPr lang="en-US" sz="1400" dirty="0">
                <a:solidFill>
                  <a:srgbClr val="2A2742"/>
                </a:solidFill>
                <a:latin typeface="Arimo" pitchFamily="34" charset="0"/>
                <a:ea typeface="Arimo" pitchFamily="34" charset="-122"/>
                <a:cs typeface="Arimo" pitchFamily="34" charset="-120"/>
              </a:rPr>
              <a:t>Advisory systems assist users in crop and plant management.</a:t>
            </a:r>
            <a:endParaRPr lang="en-US" sz="1400" dirty="0"/>
          </a:p>
        </p:txBody>
      </p:sp>
      <p:sp>
        <p:nvSpPr>
          <p:cNvPr id="20" name="Text 18"/>
          <p:cNvSpPr/>
          <p:nvPr/>
        </p:nvSpPr>
        <p:spPr>
          <a:xfrm>
            <a:off x="1816179" y="6433423"/>
            <a:ext cx="5202317" cy="291941"/>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2A2742"/>
                </a:solidFill>
                <a:latin typeface="Arimo" pitchFamily="34" charset="0"/>
                <a:ea typeface="Arimo" pitchFamily="34" charset="-122"/>
                <a:cs typeface="Arimo" pitchFamily="34" charset="-120"/>
              </a:rPr>
              <a:t>Many depend on expert knowledge, rules, or sensor data.</a:t>
            </a:r>
            <a:endParaRPr lang="en-US" sz="1400" dirty="0"/>
          </a:p>
        </p:txBody>
      </p:sp>
      <p:sp>
        <p:nvSpPr>
          <p:cNvPr id="21" name="Text 19"/>
          <p:cNvSpPr/>
          <p:nvPr/>
        </p:nvSpPr>
        <p:spPr>
          <a:xfrm>
            <a:off x="1816179" y="6789182"/>
            <a:ext cx="5202317" cy="291941"/>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2A2742"/>
                </a:solidFill>
                <a:latin typeface="Arimo" pitchFamily="34" charset="0"/>
                <a:ea typeface="Arimo" pitchFamily="34" charset="-122"/>
                <a:cs typeface="Arimo" pitchFamily="34" charset="-120"/>
              </a:rPr>
              <a:t>Visual analysis of plant images is often missing.</a:t>
            </a:r>
            <a:endParaRPr lang="en-US" sz="1400" dirty="0"/>
          </a:p>
        </p:txBody>
      </p:sp>
      <p:sp>
        <p:nvSpPr>
          <p:cNvPr id="22" name="Shape 20"/>
          <p:cNvSpPr/>
          <p:nvPr/>
        </p:nvSpPr>
        <p:spPr>
          <a:xfrm>
            <a:off x="7406402" y="5128617"/>
            <a:ext cx="5681662" cy="2449830"/>
          </a:xfrm>
          <a:prstGeom prst="roundRect">
            <a:avLst>
              <a:gd name="adj" fmla="val 4479"/>
            </a:avLst>
          </a:prstGeom>
          <a:solidFill>
            <a:srgbClr val="FAFAFA">
              <a:alpha val="95000"/>
            </a:srgbClr>
          </a:solidFill>
          <a:ln w="22860">
            <a:solidFill>
              <a:srgbClr val="BDB8DF"/>
            </a:solidFill>
            <a:prstDash val="solid"/>
          </a:ln>
        </p:spPr>
      </p:sp>
      <p:sp>
        <p:nvSpPr>
          <p:cNvPr id="23" name="Shape 21"/>
          <p:cNvSpPr/>
          <p:nvPr/>
        </p:nvSpPr>
        <p:spPr>
          <a:xfrm>
            <a:off x="7383542" y="5128617"/>
            <a:ext cx="91440" cy="2449830"/>
          </a:xfrm>
          <a:prstGeom prst="roundRect">
            <a:avLst>
              <a:gd name="adj" fmla="val 83846"/>
            </a:avLst>
          </a:prstGeom>
          <a:solidFill>
            <a:srgbClr val="5E4CE6"/>
          </a:solidFill>
          <a:ln/>
        </p:spPr>
      </p:sp>
      <p:sp>
        <p:nvSpPr>
          <p:cNvPr id="24" name="Text 22"/>
          <p:cNvSpPr/>
          <p:nvPr/>
        </p:nvSpPr>
        <p:spPr>
          <a:xfrm>
            <a:off x="7680365" y="5334000"/>
            <a:ext cx="2738080" cy="342305"/>
          </a:xfrm>
          <a:prstGeom prst="rect">
            <a:avLst/>
          </a:prstGeom>
          <a:noFill/>
          <a:ln/>
        </p:spPr>
        <p:txBody>
          <a:bodyPr wrap="none" lIns="0" tIns="0" rIns="0" bIns="0" rtlCol="0" anchor="t"/>
          <a:lstStyle/>
          <a:p>
            <a:pPr marL="0" indent="0" algn="l">
              <a:lnSpc>
                <a:spcPts val="2650"/>
              </a:lnSpc>
              <a:buNone/>
            </a:pPr>
            <a:r>
              <a:rPr lang="en-US" sz="2150" b="1" dirty="0">
                <a:solidFill>
                  <a:srgbClr val="2A2742"/>
                </a:solidFill>
                <a:latin typeface="Outfit Extra Bold" pitchFamily="34" charset="0"/>
                <a:ea typeface="Outfit Extra Bold" pitchFamily="34" charset="-122"/>
                <a:cs typeface="Outfit Extra Bold" pitchFamily="34" charset="-120"/>
              </a:rPr>
              <a:t>Research Gap</a:t>
            </a:r>
            <a:endParaRPr lang="en-US" sz="2150" dirty="0"/>
          </a:p>
        </p:txBody>
      </p:sp>
      <p:sp>
        <p:nvSpPr>
          <p:cNvPr id="25" name="Text 23"/>
          <p:cNvSpPr/>
          <p:nvPr/>
        </p:nvSpPr>
        <p:spPr>
          <a:xfrm>
            <a:off x="7680365" y="5785723"/>
            <a:ext cx="5202317" cy="291941"/>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2A2742"/>
                </a:solidFill>
                <a:latin typeface="Arimo" pitchFamily="34" charset="0"/>
                <a:ea typeface="Arimo" pitchFamily="34" charset="-122"/>
                <a:cs typeface="Arimo" pitchFamily="34" charset="-120"/>
              </a:rPr>
              <a:t>Existing solutions work independently and lack integration.</a:t>
            </a:r>
            <a:endParaRPr lang="en-US" sz="1400" dirty="0"/>
          </a:p>
        </p:txBody>
      </p:sp>
      <p:sp>
        <p:nvSpPr>
          <p:cNvPr id="26" name="Text 24"/>
          <p:cNvSpPr/>
          <p:nvPr/>
        </p:nvSpPr>
        <p:spPr>
          <a:xfrm>
            <a:off x="7680365" y="6141482"/>
            <a:ext cx="5202317" cy="583883"/>
          </a:xfrm>
          <a:prstGeom prst="rect">
            <a:avLst/>
          </a:prstGeom>
          <a:noFill/>
          <a:ln/>
        </p:spPr>
        <p:txBody>
          <a:bodyPr wrap="square" lIns="0" tIns="0" rIns="0" bIns="0" rtlCol="0" anchor="t"/>
          <a:lstStyle/>
          <a:p>
            <a:pPr marL="342900" indent="-342900" algn="l">
              <a:lnSpc>
                <a:spcPts val="2250"/>
              </a:lnSpc>
              <a:buSzPct val="100000"/>
              <a:buChar char="•"/>
            </a:pPr>
            <a:r>
              <a:rPr lang="en-US" sz="1400" dirty="0">
                <a:solidFill>
                  <a:srgbClr val="2A2742"/>
                </a:solidFill>
                <a:latin typeface="Arimo" pitchFamily="34" charset="0"/>
                <a:ea typeface="Arimo" pitchFamily="34" charset="-122"/>
                <a:cs typeface="Arimo" pitchFamily="34" charset="-120"/>
              </a:rPr>
              <a:t>Limited systems combine plant identification, disease diagnosis, and guidance.</a:t>
            </a:r>
            <a:endParaRPr lang="en-US" sz="1400" dirty="0"/>
          </a:p>
        </p:txBody>
      </p:sp>
      <p:sp>
        <p:nvSpPr>
          <p:cNvPr id="27" name="Text 25"/>
          <p:cNvSpPr/>
          <p:nvPr/>
        </p:nvSpPr>
        <p:spPr>
          <a:xfrm>
            <a:off x="7680365" y="6789182"/>
            <a:ext cx="5202317" cy="583883"/>
          </a:xfrm>
          <a:prstGeom prst="rect">
            <a:avLst/>
          </a:prstGeom>
          <a:noFill/>
          <a:ln/>
        </p:spPr>
        <p:txBody>
          <a:bodyPr wrap="square" lIns="0" tIns="0" rIns="0" bIns="0" rtlCol="0" anchor="t"/>
          <a:lstStyle/>
          <a:p>
            <a:pPr marL="342900" indent="-342900" algn="l">
              <a:lnSpc>
                <a:spcPts val="2250"/>
              </a:lnSpc>
              <a:buSzPct val="100000"/>
              <a:buChar char="•"/>
            </a:pPr>
            <a:r>
              <a:rPr lang="en-US" sz="1400" dirty="0">
                <a:solidFill>
                  <a:srgbClr val="2A2742"/>
                </a:solidFill>
                <a:latin typeface="Arimo" pitchFamily="34" charset="0"/>
                <a:ea typeface="Arimo" pitchFamily="34" charset="-122"/>
                <a:cs typeface="Arimo" pitchFamily="34" charset="-120"/>
              </a:rPr>
              <a:t>This gap motivates the development of an integrated AI-based system like </a:t>
            </a:r>
            <a:r>
              <a:rPr lang="en-US" sz="1400" b="1" dirty="0">
                <a:solidFill>
                  <a:srgbClr val="2A2742"/>
                </a:solidFill>
                <a:latin typeface="Arimo" pitchFamily="34" charset="0"/>
                <a:ea typeface="Arimo" pitchFamily="34" charset="-122"/>
                <a:cs typeface="Arimo" pitchFamily="34" charset="-120"/>
              </a:rPr>
              <a:t>LeafDoc</a:t>
            </a:r>
            <a:r>
              <a:rPr lang="en-US" sz="1400" dirty="0">
                <a:solidFill>
                  <a:srgbClr val="2A2742"/>
                </a:solidFill>
                <a:latin typeface="Arimo" pitchFamily="34" charset="0"/>
                <a:ea typeface="Arimo" pitchFamily="34" charset="-122"/>
                <a:cs typeface="Arimo" pitchFamily="34" charset="-120"/>
              </a:rPr>
              <a: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738908"/>
            <a:ext cx="4536519" cy="566976"/>
          </a:xfrm>
          <a:prstGeom prst="rect">
            <a:avLst/>
          </a:prstGeom>
          <a:noFill/>
          <a:ln/>
        </p:spPr>
        <p:txBody>
          <a:bodyPr wrap="none" lIns="0" tIns="0" rIns="0" bIns="0" rtlCol="0" anchor="t"/>
          <a:lstStyle/>
          <a:p>
            <a:pPr marL="0" indent="0" algn="l">
              <a:lnSpc>
                <a:spcPts val="4450"/>
              </a:lnSpc>
              <a:buNone/>
            </a:pPr>
            <a:r>
              <a:rPr lang="en-US" sz="3550" b="1" dirty="0">
                <a:solidFill>
                  <a:srgbClr val="231971"/>
                </a:solidFill>
                <a:latin typeface="Outfit Extra Bold" pitchFamily="34" charset="0"/>
                <a:ea typeface="Outfit Extra Bold" pitchFamily="34" charset="-122"/>
                <a:cs typeface="Outfit Extra Bold" pitchFamily="34" charset="-120"/>
              </a:rPr>
              <a:t>Objectives</a:t>
            </a:r>
            <a:endParaRPr lang="en-US" sz="3550" dirty="0"/>
          </a:p>
        </p:txBody>
      </p:sp>
      <p:sp>
        <p:nvSpPr>
          <p:cNvPr id="3" name="Text 1"/>
          <p:cNvSpPr/>
          <p:nvPr/>
        </p:nvSpPr>
        <p:spPr>
          <a:xfrm>
            <a:off x="793790" y="2759512"/>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2A2742"/>
                </a:solidFill>
                <a:latin typeface="Arimo" pitchFamily="34" charset="0"/>
                <a:ea typeface="Arimo" pitchFamily="34" charset="-122"/>
                <a:cs typeface="Arimo" pitchFamily="34" charset="-120"/>
              </a:rPr>
              <a:t>The primary objectives of the LeafDoc project are as follows:</a:t>
            </a:r>
            <a:endParaRPr lang="en-US" sz="1750" dirty="0"/>
          </a:p>
        </p:txBody>
      </p:sp>
      <p:sp>
        <p:nvSpPr>
          <p:cNvPr id="4" name="Shape 2"/>
          <p:cNvSpPr/>
          <p:nvPr/>
        </p:nvSpPr>
        <p:spPr>
          <a:xfrm>
            <a:off x="793790" y="3377565"/>
            <a:ext cx="510302" cy="510302"/>
          </a:xfrm>
          <a:prstGeom prst="roundRect">
            <a:avLst>
              <a:gd name="adj" fmla="val 18669"/>
            </a:avLst>
          </a:prstGeom>
          <a:solidFill>
            <a:srgbClr val="E9E6FA"/>
          </a:solidFill>
          <a:ln w="7620">
            <a:solidFill>
              <a:srgbClr val="BDB8DF"/>
            </a:solidFill>
            <a:prstDash val="solid"/>
          </a:ln>
        </p:spPr>
      </p:sp>
      <p:sp>
        <p:nvSpPr>
          <p:cNvPr id="5" name="Text 3"/>
          <p:cNvSpPr/>
          <p:nvPr/>
        </p:nvSpPr>
        <p:spPr>
          <a:xfrm>
            <a:off x="878860" y="3420070"/>
            <a:ext cx="340162" cy="425291"/>
          </a:xfrm>
          <a:prstGeom prst="rect">
            <a:avLst/>
          </a:prstGeom>
          <a:noFill/>
          <a:ln/>
        </p:spPr>
        <p:txBody>
          <a:bodyPr wrap="none" lIns="0" tIns="0" rIns="0" bIns="0" rtlCol="0" anchor="t"/>
          <a:lstStyle/>
          <a:p>
            <a:pPr marL="0" indent="0" algn="ctr">
              <a:lnSpc>
                <a:spcPts val="2650"/>
              </a:lnSpc>
              <a:buNone/>
            </a:pPr>
            <a:r>
              <a:rPr lang="en-US" sz="2650" b="1" dirty="0">
                <a:solidFill>
                  <a:srgbClr val="2A2742"/>
                </a:solidFill>
                <a:latin typeface="Outfit Extra Bold" pitchFamily="34" charset="0"/>
                <a:ea typeface="Outfit Extra Bold" pitchFamily="34" charset="-122"/>
                <a:cs typeface="Outfit Extra Bold" pitchFamily="34" charset="-120"/>
              </a:rPr>
              <a:t>1</a:t>
            </a:r>
            <a:endParaRPr lang="en-US" sz="2650" dirty="0"/>
          </a:p>
        </p:txBody>
      </p:sp>
      <p:sp>
        <p:nvSpPr>
          <p:cNvPr id="6" name="Text 4"/>
          <p:cNvSpPr/>
          <p:nvPr/>
        </p:nvSpPr>
        <p:spPr>
          <a:xfrm>
            <a:off x="1530906" y="3420070"/>
            <a:ext cx="3402330" cy="425291"/>
          </a:xfrm>
          <a:prstGeom prst="rect">
            <a:avLst/>
          </a:prstGeom>
          <a:noFill/>
          <a:ln/>
        </p:spPr>
        <p:txBody>
          <a:bodyPr wrap="none" lIns="0" tIns="0" rIns="0" bIns="0" rtlCol="0" anchor="t"/>
          <a:lstStyle/>
          <a:p>
            <a:pPr marL="0" indent="0" algn="l">
              <a:lnSpc>
                <a:spcPts val="3300"/>
              </a:lnSpc>
              <a:buNone/>
            </a:pPr>
            <a:r>
              <a:rPr lang="en-US" sz="2650" b="1" dirty="0">
                <a:solidFill>
                  <a:srgbClr val="2A2742"/>
                </a:solidFill>
                <a:latin typeface="Outfit Extra Bold" pitchFamily="34" charset="0"/>
                <a:ea typeface="Outfit Extra Bold" pitchFamily="34" charset="-122"/>
                <a:cs typeface="Outfit Extra Bold" pitchFamily="34" charset="-120"/>
              </a:rPr>
              <a:t>Plant Identification</a:t>
            </a:r>
            <a:endParaRPr lang="en-US" sz="2650" dirty="0"/>
          </a:p>
        </p:txBody>
      </p:sp>
      <p:sp>
        <p:nvSpPr>
          <p:cNvPr id="7" name="Text 5"/>
          <p:cNvSpPr/>
          <p:nvPr/>
        </p:nvSpPr>
        <p:spPr>
          <a:xfrm>
            <a:off x="1530906" y="3981450"/>
            <a:ext cx="5642491" cy="725805"/>
          </a:xfrm>
          <a:prstGeom prst="rect">
            <a:avLst/>
          </a:prstGeom>
          <a:noFill/>
          <a:ln/>
        </p:spPr>
        <p:txBody>
          <a:bodyPr wrap="square" lIns="0" tIns="0" rIns="0" bIns="0" rtlCol="0" anchor="t"/>
          <a:lstStyle/>
          <a:p>
            <a:pPr marL="0" indent="0" algn="l">
              <a:lnSpc>
                <a:spcPts val="2850"/>
              </a:lnSpc>
              <a:buNone/>
            </a:pPr>
            <a:r>
              <a:rPr lang="en-US" sz="1750" dirty="0">
                <a:solidFill>
                  <a:srgbClr val="2A2742"/>
                </a:solidFill>
                <a:latin typeface="Arimo" pitchFamily="34" charset="0"/>
                <a:ea typeface="Arimo" pitchFamily="34" charset="-122"/>
                <a:cs typeface="Arimo" pitchFamily="34" charset="-120"/>
              </a:rPr>
              <a:t>To identify plant species from user-uploaded images using AI-assisted image analysis.</a:t>
            </a:r>
            <a:endParaRPr lang="en-US" sz="1750" dirty="0"/>
          </a:p>
        </p:txBody>
      </p:sp>
      <p:sp>
        <p:nvSpPr>
          <p:cNvPr id="8" name="Shape 6"/>
          <p:cNvSpPr/>
          <p:nvPr/>
        </p:nvSpPr>
        <p:spPr>
          <a:xfrm>
            <a:off x="7456884" y="3377565"/>
            <a:ext cx="510302" cy="510302"/>
          </a:xfrm>
          <a:prstGeom prst="roundRect">
            <a:avLst>
              <a:gd name="adj" fmla="val 18669"/>
            </a:avLst>
          </a:prstGeom>
          <a:solidFill>
            <a:srgbClr val="E9E6FA"/>
          </a:solidFill>
          <a:ln w="7620">
            <a:solidFill>
              <a:srgbClr val="BDB8DF"/>
            </a:solidFill>
            <a:prstDash val="solid"/>
          </a:ln>
        </p:spPr>
      </p:sp>
      <p:sp>
        <p:nvSpPr>
          <p:cNvPr id="9" name="Text 7"/>
          <p:cNvSpPr/>
          <p:nvPr/>
        </p:nvSpPr>
        <p:spPr>
          <a:xfrm>
            <a:off x="7541955" y="3420070"/>
            <a:ext cx="340162" cy="425291"/>
          </a:xfrm>
          <a:prstGeom prst="rect">
            <a:avLst/>
          </a:prstGeom>
          <a:noFill/>
          <a:ln/>
        </p:spPr>
        <p:txBody>
          <a:bodyPr wrap="none" lIns="0" tIns="0" rIns="0" bIns="0" rtlCol="0" anchor="t"/>
          <a:lstStyle/>
          <a:p>
            <a:pPr marL="0" indent="0" algn="ctr">
              <a:lnSpc>
                <a:spcPts val="2650"/>
              </a:lnSpc>
              <a:buNone/>
            </a:pPr>
            <a:r>
              <a:rPr lang="en-US" sz="2650" b="1" dirty="0">
                <a:solidFill>
                  <a:srgbClr val="2A2742"/>
                </a:solidFill>
                <a:latin typeface="Outfit Extra Bold" pitchFamily="34" charset="0"/>
                <a:ea typeface="Outfit Extra Bold" pitchFamily="34" charset="-122"/>
                <a:cs typeface="Outfit Extra Bold" pitchFamily="34" charset="-120"/>
              </a:rPr>
              <a:t>2</a:t>
            </a:r>
            <a:endParaRPr lang="en-US" sz="2650" dirty="0"/>
          </a:p>
        </p:txBody>
      </p:sp>
      <p:sp>
        <p:nvSpPr>
          <p:cNvPr id="10" name="Text 8"/>
          <p:cNvSpPr/>
          <p:nvPr/>
        </p:nvSpPr>
        <p:spPr>
          <a:xfrm>
            <a:off x="8194000" y="3420070"/>
            <a:ext cx="3733681" cy="425291"/>
          </a:xfrm>
          <a:prstGeom prst="rect">
            <a:avLst/>
          </a:prstGeom>
          <a:noFill/>
          <a:ln/>
        </p:spPr>
        <p:txBody>
          <a:bodyPr wrap="none" lIns="0" tIns="0" rIns="0" bIns="0" rtlCol="0" anchor="t"/>
          <a:lstStyle/>
          <a:p>
            <a:pPr marL="0" indent="0" algn="l">
              <a:lnSpc>
                <a:spcPts val="3300"/>
              </a:lnSpc>
              <a:buNone/>
            </a:pPr>
            <a:r>
              <a:rPr lang="en-US" sz="2650" b="1" dirty="0">
                <a:solidFill>
                  <a:srgbClr val="2A2742"/>
                </a:solidFill>
                <a:latin typeface="Outfit Extra Bold" pitchFamily="34" charset="0"/>
                <a:ea typeface="Outfit Extra Bold" pitchFamily="34" charset="-122"/>
                <a:cs typeface="Outfit Extra Bold" pitchFamily="34" charset="-120"/>
              </a:rPr>
              <a:t>Plant Disease Detection</a:t>
            </a:r>
            <a:endParaRPr lang="en-US" sz="2650" dirty="0"/>
          </a:p>
        </p:txBody>
      </p:sp>
      <p:sp>
        <p:nvSpPr>
          <p:cNvPr id="11" name="Text 9"/>
          <p:cNvSpPr/>
          <p:nvPr/>
        </p:nvSpPr>
        <p:spPr>
          <a:xfrm>
            <a:off x="8194000" y="3981450"/>
            <a:ext cx="5642610" cy="725805"/>
          </a:xfrm>
          <a:prstGeom prst="rect">
            <a:avLst/>
          </a:prstGeom>
          <a:noFill/>
          <a:ln/>
        </p:spPr>
        <p:txBody>
          <a:bodyPr wrap="square" lIns="0" tIns="0" rIns="0" bIns="0" rtlCol="0" anchor="t"/>
          <a:lstStyle/>
          <a:p>
            <a:pPr marL="0" indent="0" algn="l">
              <a:lnSpc>
                <a:spcPts val="2850"/>
              </a:lnSpc>
              <a:buNone/>
            </a:pPr>
            <a:r>
              <a:rPr lang="en-US" sz="1750" dirty="0">
                <a:solidFill>
                  <a:srgbClr val="2A2742"/>
                </a:solidFill>
                <a:latin typeface="Arimo" pitchFamily="34" charset="0"/>
                <a:ea typeface="Arimo" pitchFamily="34" charset="-122"/>
                <a:cs typeface="Arimo" pitchFamily="34" charset="-120"/>
              </a:rPr>
              <a:t>To analyze identified plants for possible diseases based on visual symptoms.</a:t>
            </a:r>
            <a:endParaRPr lang="en-US" sz="1750" dirty="0"/>
          </a:p>
        </p:txBody>
      </p:sp>
      <p:sp>
        <p:nvSpPr>
          <p:cNvPr id="12" name="Shape 10"/>
          <p:cNvSpPr/>
          <p:nvPr/>
        </p:nvSpPr>
        <p:spPr>
          <a:xfrm>
            <a:off x="793790" y="5160883"/>
            <a:ext cx="510302" cy="510302"/>
          </a:xfrm>
          <a:prstGeom prst="roundRect">
            <a:avLst>
              <a:gd name="adj" fmla="val 18669"/>
            </a:avLst>
          </a:prstGeom>
          <a:solidFill>
            <a:srgbClr val="E9E6FA"/>
          </a:solidFill>
          <a:ln w="7620">
            <a:solidFill>
              <a:srgbClr val="BDB8DF"/>
            </a:solidFill>
            <a:prstDash val="solid"/>
          </a:ln>
        </p:spPr>
      </p:sp>
      <p:sp>
        <p:nvSpPr>
          <p:cNvPr id="13" name="Text 11"/>
          <p:cNvSpPr/>
          <p:nvPr/>
        </p:nvSpPr>
        <p:spPr>
          <a:xfrm>
            <a:off x="878860" y="5203388"/>
            <a:ext cx="340162" cy="425291"/>
          </a:xfrm>
          <a:prstGeom prst="rect">
            <a:avLst/>
          </a:prstGeom>
          <a:noFill/>
          <a:ln/>
        </p:spPr>
        <p:txBody>
          <a:bodyPr wrap="none" lIns="0" tIns="0" rIns="0" bIns="0" rtlCol="0" anchor="t"/>
          <a:lstStyle/>
          <a:p>
            <a:pPr marL="0" indent="0" algn="ctr">
              <a:lnSpc>
                <a:spcPts val="2650"/>
              </a:lnSpc>
              <a:buNone/>
            </a:pPr>
            <a:r>
              <a:rPr lang="en-US" sz="2650" b="1" dirty="0">
                <a:solidFill>
                  <a:srgbClr val="2A2742"/>
                </a:solidFill>
                <a:latin typeface="Outfit Extra Bold" pitchFamily="34" charset="0"/>
                <a:ea typeface="Outfit Extra Bold" pitchFamily="34" charset="-122"/>
                <a:cs typeface="Outfit Extra Bold" pitchFamily="34" charset="-120"/>
              </a:rPr>
              <a:t>3</a:t>
            </a:r>
            <a:endParaRPr lang="en-US" sz="2650" dirty="0"/>
          </a:p>
        </p:txBody>
      </p:sp>
      <p:sp>
        <p:nvSpPr>
          <p:cNvPr id="14" name="Text 12"/>
          <p:cNvSpPr/>
          <p:nvPr/>
        </p:nvSpPr>
        <p:spPr>
          <a:xfrm>
            <a:off x="1530906" y="5203388"/>
            <a:ext cx="4972883" cy="425291"/>
          </a:xfrm>
          <a:prstGeom prst="rect">
            <a:avLst/>
          </a:prstGeom>
          <a:noFill/>
          <a:ln/>
        </p:spPr>
        <p:txBody>
          <a:bodyPr wrap="none" lIns="0" tIns="0" rIns="0" bIns="0" rtlCol="0" anchor="t"/>
          <a:lstStyle/>
          <a:p>
            <a:pPr marL="0" indent="0" algn="l">
              <a:lnSpc>
                <a:spcPts val="3300"/>
              </a:lnSpc>
              <a:buNone/>
            </a:pPr>
            <a:r>
              <a:rPr lang="en-US" sz="2650" b="1" dirty="0">
                <a:solidFill>
                  <a:srgbClr val="2A2742"/>
                </a:solidFill>
                <a:latin typeface="Outfit Extra Bold" pitchFamily="34" charset="0"/>
                <a:ea typeface="Outfit Extra Bold" pitchFamily="34" charset="-122"/>
                <a:cs typeface="Outfit Extra Bold" pitchFamily="34" charset="-120"/>
              </a:rPr>
              <a:t>Recommendation and Guidance</a:t>
            </a:r>
            <a:endParaRPr lang="en-US" sz="2650" dirty="0"/>
          </a:p>
        </p:txBody>
      </p:sp>
      <p:sp>
        <p:nvSpPr>
          <p:cNvPr id="15" name="Text 13"/>
          <p:cNvSpPr/>
          <p:nvPr/>
        </p:nvSpPr>
        <p:spPr>
          <a:xfrm>
            <a:off x="1530906" y="5764768"/>
            <a:ext cx="5642491" cy="725805"/>
          </a:xfrm>
          <a:prstGeom prst="rect">
            <a:avLst/>
          </a:prstGeom>
          <a:noFill/>
          <a:ln/>
        </p:spPr>
        <p:txBody>
          <a:bodyPr wrap="square" lIns="0" tIns="0" rIns="0" bIns="0" rtlCol="0" anchor="t"/>
          <a:lstStyle/>
          <a:p>
            <a:pPr marL="0" indent="0" algn="l">
              <a:lnSpc>
                <a:spcPts val="2850"/>
              </a:lnSpc>
              <a:buNone/>
            </a:pPr>
            <a:r>
              <a:rPr lang="en-US" sz="1750" dirty="0">
                <a:solidFill>
                  <a:srgbClr val="2A2742"/>
                </a:solidFill>
                <a:latin typeface="Arimo" pitchFamily="34" charset="0"/>
                <a:ea typeface="Arimo" pitchFamily="34" charset="-122"/>
                <a:cs typeface="Arimo" pitchFamily="34" charset="-120"/>
              </a:rPr>
              <a:t>To provide basic treatment suggestions and plant care recommendations for identified diseases.</a:t>
            </a:r>
            <a:endParaRPr lang="en-US" sz="1750" dirty="0"/>
          </a:p>
        </p:txBody>
      </p:sp>
      <p:sp>
        <p:nvSpPr>
          <p:cNvPr id="16" name="Shape 14"/>
          <p:cNvSpPr/>
          <p:nvPr/>
        </p:nvSpPr>
        <p:spPr>
          <a:xfrm>
            <a:off x="7456884" y="5160883"/>
            <a:ext cx="510302" cy="510302"/>
          </a:xfrm>
          <a:prstGeom prst="roundRect">
            <a:avLst>
              <a:gd name="adj" fmla="val 18669"/>
            </a:avLst>
          </a:prstGeom>
          <a:solidFill>
            <a:srgbClr val="E9E6FA"/>
          </a:solidFill>
          <a:ln w="7620">
            <a:solidFill>
              <a:srgbClr val="BDB8DF"/>
            </a:solidFill>
            <a:prstDash val="solid"/>
          </a:ln>
        </p:spPr>
      </p:sp>
      <p:sp>
        <p:nvSpPr>
          <p:cNvPr id="17" name="Text 15"/>
          <p:cNvSpPr/>
          <p:nvPr/>
        </p:nvSpPr>
        <p:spPr>
          <a:xfrm>
            <a:off x="7541955" y="5203388"/>
            <a:ext cx="340162" cy="425291"/>
          </a:xfrm>
          <a:prstGeom prst="rect">
            <a:avLst/>
          </a:prstGeom>
          <a:noFill/>
          <a:ln/>
        </p:spPr>
        <p:txBody>
          <a:bodyPr wrap="none" lIns="0" tIns="0" rIns="0" bIns="0" rtlCol="0" anchor="t"/>
          <a:lstStyle/>
          <a:p>
            <a:pPr marL="0" indent="0" algn="ctr">
              <a:lnSpc>
                <a:spcPts val="2650"/>
              </a:lnSpc>
              <a:buNone/>
            </a:pPr>
            <a:r>
              <a:rPr lang="en-US" sz="2650" b="1" dirty="0">
                <a:solidFill>
                  <a:srgbClr val="2A2742"/>
                </a:solidFill>
                <a:latin typeface="Outfit Extra Bold" pitchFamily="34" charset="0"/>
                <a:ea typeface="Outfit Extra Bold" pitchFamily="34" charset="-122"/>
                <a:cs typeface="Outfit Extra Bold" pitchFamily="34" charset="-120"/>
              </a:rPr>
              <a:t>4</a:t>
            </a:r>
            <a:endParaRPr lang="en-US" sz="2650" dirty="0"/>
          </a:p>
        </p:txBody>
      </p:sp>
      <p:sp>
        <p:nvSpPr>
          <p:cNvPr id="18" name="Text 16"/>
          <p:cNvSpPr/>
          <p:nvPr/>
        </p:nvSpPr>
        <p:spPr>
          <a:xfrm>
            <a:off x="8194000" y="5203388"/>
            <a:ext cx="5132427" cy="425291"/>
          </a:xfrm>
          <a:prstGeom prst="rect">
            <a:avLst/>
          </a:prstGeom>
          <a:noFill/>
          <a:ln/>
        </p:spPr>
        <p:txBody>
          <a:bodyPr wrap="none" lIns="0" tIns="0" rIns="0" bIns="0" rtlCol="0" anchor="t"/>
          <a:lstStyle/>
          <a:p>
            <a:pPr marL="0" indent="0" algn="l">
              <a:lnSpc>
                <a:spcPts val="3300"/>
              </a:lnSpc>
              <a:buNone/>
            </a:pPr>
            <a:r>
              <a:rPr lang="en-US" sz="2650" b="1" dirty="0">
                <a:solidFill>
                  <a:srgbClr val="2A2742"/>
                </a:solidFill>
                <a:latin typeface="Outfit Extra Bold" pitchFamily="34" charset="0"/>
                <a:ea typeface="Outfit Extra Bold" pitchFamily="34" charset="-122"/>
                <a:cs typeface="Outfit Extra Bold" pitchFamily="34" charset="-120"/>
              </a:rPr>
              <a:t>User Assistance and Accessibility</a:t>
            </a:r>
            <a:endParaRPr lang="en-US" sz="2650" dirty="0"/>
          </a:p>
        </p:txBody>
      </p:sp>
      <p:sp>
        <p:nvSpPr>
          <p:cNvPr id="19" name="Text 17"/>
          <p:cNvSpPr/>
          <p:nvPr/>
        </p:nvSpPr>
        <p:spPr>
          <a:xfrm>
            <a:off x="8194000" y="5764768"/>
            <a:ext cx="5642610" cy="725805"/>
          </a:xfrm>
          <a:prstGeom prst="rect">
            <a:avLst/>
          </a:prstGeom>
          <a:noFill/>
          <a:ln/>
        </p:spPr>
        <p:txBody>
          <a:bodyPr wrap="square" lIns="0" tIns="0" rIns="0" bIns="0" rtlCol="0" anchor="t"/>
          <a:lstStyle/>
          <a:p>
            <a:pPr marL="0" indent="0" algn="l">
              <a:lnSpc>
                <a:spcPts val="2850"/>
              </a:lnSpc>
              <a:buNone/>
            </a:pPr>
            <a:r>
              <a:rPr lang="en-US" sz="1750" dirty="0">
                <a:solidFill>
                  <a:srgbClr val="2A2742"/>
                </a:solidFill>
                <a:latin typeface="Arimo" pitchFamily="34" charset="0"/>
                <a:ea typeface="Arimo" pitchFamily="34" charset="-122"/>
                <a:cs typeface="Arimo" pitchFamily="34" charset="-120"/>
              </a:rPr>
              <a:t>To develop a user-friendly web-based system with chatbot support for assisting non-expert users.</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052274" y="544592"/>
            <a:ext cx="3960733" cy="495062"/>
          </a:xfrm>
          <a:prstGeom prst="rect">
            <a:avLst/>
          </a:prstGeom>
          <a:noFill/>
          <a:ln/>
        </p:spPr>
        <p:txBody>
          <a:bodyPr wrap="none" lIns="0" tIns="0" rIns="0" bIns="0" rtlCol="0" anchor="t"/>
          <a:lstStyle/>
          <a:p>
            <a:pPr marL="0" indent="0" algn="l">
              <a:lnSpc>
                <a:spcPts val="3850"/>
              </a:lnSpc>
              <a:buNone/>
            </a:pPr>
            <a:r>
              <a:rPr lang="en-US" sz="3100" b="1" dirty="0">
                <a:solidFill>
                  <a:srgbClr val="231971"/>
                </a:solidFill>
                <a:latin typeface="Outfit Extra Bold" pitchFamily="34" charset="0"/>
                <a:ea typeface="Outfit Extra Bold" pitchFamily="34" charset="-122"/>
                <a:cs typeface="Outfit Extra Bold" pitchFamily="34" charset="-120"/>
              </a:rPr>
              <a:t>Problem Statement</a:t>
            </a:r>
            <a:endParaRPr lang="en-US" sz="3100" dirty="0"/>
          </a:p>
        </p:txBody>
      </p:sp>
      <p:sp>
        <p:nvSpPr>
          <p:cNvPr id="3" name="Shape 1"/>
          <p:cNvSpPr/>
          <p:nvPr/>
        </p:nvSpPr>
        <p:spPr>
          <a:xfrm>
            <a:off x="1052274" y="1559362"/>
            <a:ext cx="6021348" cy="1836658"/>
          </a:xfrm>
          <a:prstGeom prst="roundRect">
            <a:avLst>
              <a:gd name="adj" fmla="val 4529"/>
            </a:avLst>
          </a:prstGeom>
          <a:solidFill>
            <a:srgbClr val="E9E6FA"/>
          </a:solidFill>
          <a:ln w="7620">
            <a:solidFill>
              <a:srgbClr val="BDB8DF"/>
            </a:solidFill>
            <a:prstDash val="solid"/>
          </a:ln>
        </p:spPr>
      </p:sp>
      <p:sp>
        <p:nvSpPr>
          <p:cNvPr id="4" name="Shape 2"/>
          <p:cNvSpPr/>
          <p:nvPr/>
        </p:nvSpPr>
        <p:spPr>
          <a:xfrm>
            <a:off x="1257895" y="1764983"/>
            <a:ext cx="594003" cy="594003"/>
          </a:xfrm>
          <a:prstGeom prst="roundRect">
            <a:avLst>
              <a:gd name="adj" fmla="val 15392322"/>
            </a:avLst>
          </a:prstGeom>
          <a:solidFill>
            <a:srgbClr val="5E4CE6"/>
          </a:solidFill>
          <a:ln/>
        </p:spPr>
      </p:sp>
      <p:pic>
        <p:nvPicPr>
          <p:cNvPr id="5" name="Image 0" descr="preencoded.png"/>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1421249" y="1928217"/>
            <a:ext cx="267295" cy="267295"/>
          </a:xfrm>
          <a:prstGeom prst="rect">
            <a:avLst/>
          </a:prstGeom>
        </p:spPr>
      </p:pic>
      <p:sp>
        <p:nvSpPr>
          <p:cNvPr id="6" name="Text 3"/>
          <p:cNvSpPr/>
          <p:nvPr/>
        </p:nvSpPr>
        <p:spPr>
          <a:xfrm>
            <a:off x="1257895" y="2556986"/>
            <a:ext cx="5610106" cy="633413"/>
          </a:xfrm>
          <a:prstGeom prst="rect">
            <a:avLst/>
          </a:prstGeom>
          <a:noFill/>
          <a:ln/>
        </p:spPr>
        <p:txBody>
          <a:bodyPr wrap="square" lIns="0" tIns="0" rIns="0" bIns="0" rtlCol="0" anchor="t"/>
          <a:lstStyle/>
          <a:p>
            <a:pPr marL="0" indent="0" algn="l">
              <a:lnSpc>
                <a:spcPts val="2450"/>
              </a:lnSpc>
              <a:buNone/>
            </a:pPr>
            <a:r>
              <a:rPr lang="en-US" sz="1550" dirty="0">
                <a:solidFill>
                  <a:srgbClr val="2A2742"/>
                </a:solidFill>
                <a:latin typeface="Arimo" pitchFamily="34" charset="0"/>
                <a:ea typeface="Arimo" pitchFamily="34" charset="-122"/>
                <a:cs typeface="Arimo" pitchFamily="34" charset="-120"/>
              </a:rPr>
              <a:t>Identifying plant species and diseases at an early stage is difficult for non-expert users.</a:t>
            </a:r>
            <a:endParaRPr lang="en-US" sz="1550" dirty="0"/>
          </a:p>
        </p:txBody>
      </p:sp>
      <p:sp>
        <p:nvSpPr>
          <p:cNvPr id="7" name="Shape 4"/>
          <p:cNvSpPr/>
          <p:nvPr/>
        </p:nvSpPr>
        <p:spPr>
          <a:xfrm>
            <a:off x="1052274" y="3594021"/>
            <a:ext cx="6021348" cy="1836658"/>
          </a:xfrm>
          <a:prstGeom prst="roundRect">
            <a:avLst>
              <a:gd name="adj" fmla="val 4529"/>
            </a:avLst>
          </a:prstGeom>
          <a:solidFill>
            <a:srgbClr val="E9E6FA"/>
          </a:solidFill>
          <a:ln w="7620">
            <a:solidFill>
              <a:srgbClr val="BDB8DF"/>
            </a:solidFill>
            <a:prstDash val="solid"/>
          </a:ln>
        </p:spPr>
      </p:sp>
      <p:sp>
        <p:nvSpPr>
          <p:cNvPr id="8" name="Shape 5"/>
          <p:cNvSpPr/>
          <p:nvPr/>
        </p:nvSpPr>
        <p:spPr>
          <a:xfrm>
            <a:off x="1257895" y="3799642"/>
            <a:ext cx="594003" cy="594003"/>
          </a:xfrm>
          <a:prstGeom prst="roundRect">
            <a:avLst>
              <a:gd name="adj" fmla="val 15392322"/>
            </a:avLst>
          </a:prstGeom>
          <a:solidFill>
            <a:srgbClr val="5E4CE6"/>
          </a:solidFill>
          <a:ln/>
        </p:spPr>
      </p:sp>
      <p:pic>
        <p:nvPicPr>
          <p:cNvPr id="9" name="Image 1" descr="preencoded.png"/>
          <p:cNvPicPr>
            <a:picLocks noChangeAspect="1"/>
          </p:cNvPicPr>
          <p:nvPr/>
        </p:nvPicPr>
        <p:blipFill>
          <a:blip r:embed="rId3">
            <a:extLst>
              <a:ext uri="{96DAC541-7B7A-43D3-8B79-37D633B846F1}">
                <asvg:svgBlip xmlns:asvg="http://schemas.microsoft.com/office/drawing/2016/SVG/main" xmlns="" r:embed="rId5"/>
              </a:ext>
            </a:extLst>
          </a:blip>
          <a:stretch>
            <a:fillRect/>
          </a:stretch>
        </p:blipFill>
        <p:spPr>
          <a:xfrm>
            <a:off x="1421249" y="3962876"/>
            <a:ext cx="267295" cy="267295"/>
          </a:xfrm>
          <a:prstGeom prst="rect">
            <a:avLst/>
          </a:prstGeom>
        </p:spPr>
      </p:pic>
      <p:sp>
        <p:nvSpPr>
          <p:cNvPr id="10" name="Text 6"/>
          <p:cNvSpPr/>
          <p:nvPr/>
        </p:nvSpPr>
        <p:spPr>
          <a:xfrm>
            <a:off x="1257895" y="4591645"/>
            <a:ext cx="5610106" cy="633413"/>
          </a:xfrm>
          <a:prstGeom prst="rect">
            <a:avLst/>
          </a:prstGeom>
          <a:noFill/>
          <a:ln/>
        </p:spPr>
        <p:txBody>
          <a:bodyPr wrap="square" lIns="0" tIns="0" rIns="0" bIns="0" rtlCol="0" anchor="t"/>
          <a:lstStyle/>
          <a:p>
            <a:pPr marL="0" indent="0" algn="l">
              <a:lnSpc>
                <a:spcPts val="2450"/>
              </a:lnSpc>
              <a:buNone/>
            </a:pPr>
            <a:r>
              <a:rPr lang="en-US" sz="1550" dirty="0">
                <a:solidFill>
                  <a:srgbClr val="2A2742"/>
                </a:solidFill>
                <a:latin typeface="Arimo" pitchFamily="34" charset="0"/>
                <a:ea typeface="Arimo" pitchFamily="34" charset="-122"/>
                <a:cs typeface="Arimo" pitchFamily="34" charset="-120"/>
              </a:rPr>
              <a:t>Most existing solutions address plant identification or disease detection separately.</a:t>
            </a:r>
            <a:endParaRPr lang="en-US" sz="1550" dirty="0"/>
          </a:p>
        </p:txBody>
      </p:sp>
      <p:sp>
        <p:nvSpPr>
          <p:cNvPr id="11" name="Shape 7"/>
          <p:cNvSpPr/>
          <p:nvPr/>
        </p:nvSpPr>
        <p:spPr>
          <a:xfrm>
            <a:off x="1052274" y="5628680"/>
            <a:ext cx="6021348" cy="1836658"/>
          </a:xfrm>
          <a:prstGeom prst="roundRect">
            <a:avLst>
              <a:gd name="adj" fmla="val 4529"/>
            </a:avLst>
          </a:prstGeom>
          <a:solidFill>
            <a:srgbClr val="E9E6FA"/>
          </a:solidFill>
          <a:ln w="7620">
            <a:solidFill>
              <a:srgbClr val="BDB8DF"/>
            </a:solidFill>
            <a:prstDash val="solid"/>
          </a:ln>
        </p:spPr>
      </p:sp>
      <p:sp>
        <p:nvSpPr>
          <p:cNvPr id="12" name="Shape 8"/>
          <p:cNvSpPr/>
          <p:nvPr/>
        </p:nvSpPr>
        <p:spPr>
          <a:xfrm>
            <a:off x="1257895" y="5834301"/>
            <a:ext cx="594003" cy="594003"/>
          </a:xfrm>
          <a:prstGeom prst="roundRect">
            <a:avLst>
              <a:gd name="adj" fmla="val 15392322"/>
            </a:avLst>
          </a:prstGeom>
          <a:solidFill>
            <a:srgbClr val="5E4CE6"/>
          </a:solidFill>
          <a:ln/>
        </p:spPr>
      </p:sp>
      <p:pic>
        <p:nvPicPr>
          <p:cNvPr id="13" name="Image 2" descr="preencoded.png"/>
          <p:cNvPicPr>
            <a:picLocks noChangeAspect="1"/>
          </p:cNvPicPr>
          <p:nvPr/>
        </p:nvPicPr>
        <p:blipFill>
          <a:blip r:embed="rId3">
            <a:extLst>
              <a:ext uri="{96DAC541-7B7A-43D3-8B79-37D633B846F1}">
                <asvg:svgBlip xmlns:asvg="http://schemas.microsoft.com/office/drawing/2016/SVG/main" xmlns="" r:embed="rId6"/>
              </a:ext>
            </a:extLst>
          </a:blip>
          <a:stretch>
            <a:fillRect/>
          </a:stretch>
        </p:blipFill>
        <p:spPr>
          <a:xfrm>
            <a:off x="1421249" y="5997535"/>
            <a:ext cx="267295" cy="267295"/>
          </a:xfrm>
          <a:prstGeom prst="rect">
            <a:avLst/>
          </a:prstGeom>
        </p:spPr>
      </p:pic>
      <p:sp>
        <p:nvSpPr>
          <p:cNvPr id="14" name="Text 9"/>
          <p:cNvSpPr/>
          <p:nvPr/>
        </p:nvSpPr>
        <p:spPr>
          <a:xfrm>
            <a:off x="1257895" y="6626304"/>
            <a:ext cx="5610106" cy="633413"/>
          </a:xfrm>
          <a:prstGeom prst="rect">
            <a:avLst/>
          </a:prstGeom>
          <a:noFill/>
          <a:ln/>
        </p:spPr>
        <p:txBody>
          <a:bodyPr wrap="square" lIns="0" tIns="0" rIns="0" bIns="0" rtlCol="0" anchor="t"/>
          <a:lstStyle/>
          <a:p>
            <a:pPr marL="0" indent="0" algn="l">
              <a:lnSpc>
                <a:spcPts val="2450"/>
              </a:lnSpc>
              <a:buNone/>
            </a:pPr>
            <a:r>
              <a:rPr lang="en-US" sz="1550" dirty="0">
                <a:solidFill>
                  <a:srgbClr val="2A2742"/>
                </a:solidFill>
                <a:latin typeface="Arimo" pitchFamily="34" charset="0"/>
                <a:ea typeface="Arimo" pitchFamily="34" charset="-122"/>
                <a:cs typeface="Arimo" pitchFamily="34" charset="-120"/>
              </a:rPr>
              <a:t>An integrated, easy-to-use system for plant analysis and guidance is needed.</a:t>
            </a:r>
            <a:endParaRPr lang="en-US" sz="1550" dirty="0"/>
          </a:p>
        </p:txBody>
      </p:sp>
      <p:pic>
        <p:nvPicPr>
          <p:cNvPr id="15" name="Image 3" descr="preencoded.png"/>
          <p:cNvPicPr>
            <a:picLocks noChangeAspect="1"/>
          </p:cNvPicPr>
          <p:nvPr/>
        </p:nvPicPr>
        <p:blipFill>
          <a:blip r:embed="rId7"/>
          <a:stretch>
            <a:fillRect/>
          </a:stretch>
        </p:blipFill>
        <p:spPr>
          <a:xfrm>
            <a:off x="7564398" y="1559362"/>
            <a:ext cx="5455206" cy="545520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55333" y="767596"/>
            <a:ext cx="6456759" cy="539591"/>
          </a:xfrm>
          <a:prstGeom prst="rect">
            <a:avLst/>
          </a:prstGeom>
          <a:noFill/>
          <a:ln/>
        </p:spPr>
        <p:txBody>
          <a:bodyPr wrap="none" lIns="0" tIns="0" rIns="0" bIns="0" rtlCol="0" anchor="t"/>
          <a:lstStyle/>
          <a:p>
            <a:pPr marL="0" indent="0" algn="l">
              <a:lnSpc>
                <a:spcPts val="4200"/>
              </a:lnSpc>
              <a:buNone/>
            </a:pPr>
            <a:r>
              <a:rPr lang="en-US" sz="3350" b="1" dirty="0">
                <a:solidFill>
                  <a:srgbClr val="231971"/>
                </a:solidFill>
                <a:latin typeface="Outfit Extra Bold" pitchFamily="34" charset="0"/>
                <a:ea typeface="Outfit Extra Bold" pitchFamily="34" charset="-122"/>
                <a:cs typeface="Outfit Extra Bold" pitchFamily="34" charset="-120"/>
              </a:rPr>
              <a:t>Proposed System / Methodology</a:t>
            </a:r>
            <a:endParaRPr lang="en-US" sz="3350" dirty="0"/>
          </a:p>
        </p:txBody>
      </p:sp>
      <p:sp>
        <p:nvSpPr>
          <p:cNvPr id="3" name="Text 1"/>
          <p:cNvSpPr/>
          <p:nvPr/>
        </p:nvSpPr>
        <p:spPr>
          <a:xfrm>
            <a:off x="755333" y="1630918"/>
            <a:ext cx="13119735" cy="345281"/>
          </a:xfrm>
          <a:prstGeom prst="rect">
            <a:avLst/>
          </a:prstGeom>
          <a:noFill/>
          <a:ln/>
        </p:spPr>
        <p:txBody>
          <a:bodyPr wrap="none" lIns="0" tIns="0" rIns="0" bIns="0" rtlCol="0" anchor="t"/>
          <a:lstStyle/>
          <a:p>
            <a:pPr marL="0" indent="0" algn="l">
              <a:lnSpc>
                <a:spcPts val="2700"/>
              </a:lnSpc>
              <a:buNone/>
            </a:pPr>
            <a:r>
              <a:rPr lang="en-US" sz="1650" dirty="0">
                <a:solidFill>
                  <a:srgbClr val="2A2742"/>
                </a:solidFill>
                <a:latin typeface="Arimo" pitchFamily="34" charset="0"/>
                <a:ea typeface="Arimo" pitchFamily="34" charset="-122"/>
                <a:cs typeface="Arimo" pitchFamily="34" charset="-120"/>
              </a:rPr>
              <a:t>The LeafDoc system follows a structured workflow consisting of the following modules:</a:t>
            </a:r>
            <a:endParaRPr lang="en-US" sz="1650" dirty="0"/>
          </a:p>
        </p:txBody>
      </p:sp>
      <p:pic>
        <p:nvPicPr>
          <p:cNvPr id="4" name="Image 0" descr="preencoded.png"/>
          <p:cNvPicPr>
            <a:picLocks noChangeAspect="1"/>
          </p:cNvPicPr>
          <p:nvPr/>
        </p:nvPicPr>
        <p:blipFill>
          <a:blip r:embed="rId3"/>
          <a:stretch>
            <a:fillRect/>
          </a:stretch>
        </p:blipFill>
        <p:spPr>
          <a:xfrm>
            <a:off x="755333" y="2218968"/>
            <a:ext cx="1079063" cy="1310759"/>
          </a:xfrm>
          <a:prstGeom prst="rect">
            <a:avLst/>
          </a:prstGeom>
        </p:spPr>
      </p:pic>
      <p:sp>
        <p:nvSpPr>
          <p:cNvPr id="5" name="Text 2"/>
          <p:cNvSpPr/>
          <p:nvPr/>
        </p:nvSpPr>
        <p:spPr>
          <a:xfrm>
            <a:off x="2050137" y="2434709"/>
            <a:ext cx="3237428" cy="404574"/>
          </a:xfrm>
          <a:prstGeom prst="rect">
            <a:avLst/>
          </a:prstGeom>
          <a:noFill/>
          <a:ln/>
        </p:spPr>
        <p:txBody>
          <a:bodyPr wrap="none" lIns="0" tIns="0" rIns="0" bIns="0" rtlCol="0" anchor="t"/>
          <a:lstStyle/>
          <a:p>
            <a:pPr marL="0" indent="0" algn="l">
              <a:lnSpc>
                <a:spcPts val="3150"/>
              </a:lnSpc>
              <a:buNone/>
            </a:pPr>
            <a:r>
              <a:rPr lang="en-US" sz="2500" b="1" dirty="0">
                <a:solidFill>
                  <a:srgbClr val="2A2742"/>
                </a:solidFill>
                <a:latin typeface="Outfit Extra Bold" pitchFamily="34" charset="0"/>
                <a:ea typeface="Outfit Extra Bold" pitchFamily="34" charset="-122"/>
                <a:cs typeface="Outfit Extra Bold" pitchFamily="34" charset="-120"/>
              </a:rPr>
              <a:t>Image Input Module</a:t>
            </a:r>
            <a:endParaRPr lang="en-US" sz="2500" dirty="0"/>
          </a:p>
        </p:txBody>
      </p:sp>
      <p:sp>
        <p:nvSpPr>
          <p:cNvPr id="6" name="Text 3"/>
          <p:cNvSpPr/>
          <p:nvPr/>
        </p:nvSpPr>
        <p:spPr>
          <a:xfrm>
            <a:off x="2050137" y="2968704"/>
            <a:ext cx="11824930" cy="345281"/>
          </a:xfrm>
          <a:prstGeom prst="rect">
            <a:avLst/>
          </a:prstGeom>
          <a:noFill/>
          <a:ln/>
        </p:spPr>
        <p:txBody>
          <a:bodyPr wrap="none" lIns="0" tIns="0" rIns="0" bIns="0" rtlCol="0" anchor="t"/>
          <a:lstStyle/>
          <a:p>
            <a:pPr marL="0" indent="0" algn="l">
              <a:lnSpc>
                <a:spcPts val="2700"/>
              </a:lnSpc>
              <a:buNone/>
            </a:pPr>
            <a:r>
              <a:rPr lang="en-US" sz="1650" dirty="0">
                <a:solidFill>
                  <a:srgbClr val="2A2742"/>
                </a:solidFill>
                <a:latin typeface="Arimo" pitchFamily="34" charset="0"/>
                <a:ea typeface="Arimo" pitchFamily="34" charset="-122"/>
                <a:cs typeface="Arimo" pitchFamily="34" charset="-120"/>
              </a:rPr>
              <a:t>Users upload an image of a plant or leaf through the web-based interface for analysis.</a:t>
            </a:r>
            <a:endParaRPr lang="en-US" sz="1650" dirty="0"/>
          </a:p>
        </p:txBody>
      </p:sp>
      <p:pic>
        <p:nvPicPr>
          <p:cNvPr id="7" name="Image 1" descr="preencoded.png"/>
          <p:cNvPicPr>
            <a:picLocks noChangeAspect="1"/>
          </p:cNvPicPr>
          <p:nvPr/>
        </p:nvPicPr>
        <p:blipFill>
          <a:blip r:embed="rId4"/>
          <a:stretch>
            <a:fillRect/>
          </a:stretch>
        </p:blipFill>
        <p:spPr>
          <a:xfrm>
            <a:off x="755333" y="3529727"/>
            <a:ext cx="1079063" cy="1310759"/>
          </a:xfrm>
          <a:prstGeom prst="rect">
            <a:avLst/>
          </a:prstGeom>
        </p:spPr>
      </p:pic>
      <p:sp>
        <p:nvSpPr>
          <p:cNvPr id="8" name="Text 4"/>
          <p:cNvSpPr/>
          <p:nvPr/>
        </p:nvSpPr>
        <p:spPr>
          <a:xfrm>
            <a:off x="2050137" y="3745468"/>
            <a:ext cx="4029670" cy="404574"/>
          </a:xfrm>
          <a:prstGeom prst="rect">
            <a:avLst/>
          </a:prstGeom>
          <a:noFill/>
          <a:ln/>
        </p:spPr>
        <p:txBody>
          <a:bodyPr wrap="none" lIns="0" tIns="0" rIns="0" bIns="0" rtlCol="0" anchor="t"/>
          <a:lstStyle/>
          <a:p>
            <a:pPr marL="0" indent="0" algn="l">
              <a:lnSpc>
                <a:spcPts val="3150"/>
              </a:lnSpc>
              <a:buNone/>
            </a:pPr>
            <a:r>
              <a:rPr lang="en-US" sz="2500" b="1" dirty="0">
                <a:solidFill>
                  <a:srgbClr val="2A2742"/>
                </a:solidFill>
                <a:latin typeface="Outfit Extra Bold" pitchFamily="34" charset="0"/>
                <a:ea typeface="Outfit Extra Bold" pitchFamily="34" charset="-122"/>
                <a:cs typeface="Outfit Extra Bold" pitchFamily="34" charset="-120"/>
              </a:rPr>
              <a:t>Plant Identification Module</a:t>
            </a:r>
            <a:endParaRPr lang="en-US" sz="2500" dirty="0"/>
          </a:p>
        </p:txBody>
      </p:sp>
      <p:sp>
        <p:nvSpPr>
          <p:cNvPr id="9" name="Text 5"/>
          <p:cNvSpPr/>
          <p:nvPr/>
        </p:nvSpPr>
        <p:spPr>
          <a:xfrm>
            <a:off x="2050137" y="4279463"/>
            <a:ext cx="11824930" cy="345281"/>
          </a:xfrm>
          <a:prstGeom prst="rect">
            <a:avLst/>
          </a:prstGeom>
          <a:noFill/>
          <a:ln/>
        </p:spPr>
        <p:txBody>
          <a:bodyPr wrap="none" lIns="0" tIns="0" rIns="0" bIns="0" rtlCol="0" anchor="t"/>
          <a:lstStyle/>
          <a:p>
            <a:pPr marL="0" indent="0" algn="l">
              <a:lnSpc>
                <a:spcPts val="2700"/>
              </a:lnSpc>
              <a:buNone/>
            </a:pPr>
            <a:r>
              <a:rPr lang="en-US" sz="1650" dirty="0">
                <a:solidFill>
                  <a:srgbClr val="2A2742"/>
                </a:solidFill>
                <a:latin typeface="Arimo" pitchFamily="34" charset="0"/>
                <a:ea typeface="Arimo" pitchFamily="34" charset="-122"/>
                <a:cs typeface="Arimo" pitchFamily="34" charset="-120"/>
              </a:rPr>
              <a:t>The uploaded image is analyzed using a generative vision-language AI service to identify the plant species.</a:t>
            </a:r>
            <a:endParaRPr lang="en-US" sz="1650" dirty="0"/>
          </a:p>
        </p:txBody>
      </p:sp>
      <p:pic>
        <p:nvPicPr>
          <p:cNvPr id="10" name="Image 2" descr="preencoded.png"/>
          <p:cNvPicPr>
            <a:picLocks noChangeAspect="1"/>
          </p:cNvPicPr>
          <p:nvPr/>
        </p:nvPicPr>
        <p:blipFill>
          <a:blip r:embed="rId5"/>
          <a:stretch>
            <a:fillRect/>
          </a:stretch>
        </p:blipFill>
        <p:spPr>
          <a:xfrm>
            <a:off x="755333" y="4840486"/>
            <a:ext cx="1079063" cy="1310759"/>
          </a:xfrm>
          <a:prstGeom prst="rect">
            <a:avLst/>
          </a:prstGeom>
        </p:spPr>
      </p:pic>
      <p:sp>
        <p:nvSpPr>
          <p:cNvPr id="11" name="Text 6"/>
          <p:cNvSpPr/>
          <p:nvPr/>
        </p:nvSpPr>
        <p:spPr>
          <a:xfrm>
            <a:off x="2050137" y="5056227"/>
            <a:ext cx="3624858" cy="404574"/>
          </a:xfrm>
          <a:prstGeom prst="rect">
            <a:avLst/>
          </a:prstGeom>
          <a:noFill/>
          <a:ln/>
        </p:spPr>
        <p:txBody>
          <a:bodyPr wrap="none" lIns="0" tIns="0" rIns="0" bIns="0" rtlCol="0" anchor="t"/>
          <a:lstStyle/>
          <a:p>
            <a:pPr marL="0" indent="0" algn="l">
              <a:lnSpc>
                <a:spcPts val="3150"/>
              </a:lnSpc>
              <a:buNone/>
            </a:pPr>
            <a:r>
              <a:rPr lang="en-US" sz="2500" b="1" dirty="0">
                <a:solidFill>
                  <a:srgbClr val="2A2742"/>
                </a:solidFill>
                <a:latin typeface="Outfit Extra Bold" pitchFamily="34" charset="0"/>
                <a:ea typeface="Outfit Extra Bold" pitchFamily="34" charset="-122"/>
                <a:cs typeface="Outfit Extra Bold" pitchFamily="34" charset="-120"/>
              </a:rPr>
              <a:t>Disease Analysis Module</a:t>
            </a:r>
            <a:endParaRPr lang="en-US" sz="2500" dirty="0"/>
          </a:p>
        </p:txBody>
      </p:sp>
      <p:sp>
        <p:nvSpPr>
          <p:cNvPr id="12" name="Text 7"/>
          <p:cNvSpPr/>
          <p:nvPr/>
        </p:nvSpPr>
        <p:spPr>
          <a:xfrm>
            <a:off x="2050137" y="5590223"/>
            <a:ext cx="11824930" cy="345281"/>
          </a:xfrm>
          <a:prstGeom prst="rect">
            <a:avLst/>
          </a:prstGeom>
          <a:noFill/>
          <a:ln/>
        </p:spPr>
        <p:txBody>
          <a:bodyPr wrap="none" lIns="0" tIns="0" rIns="0" bIns="0" rtlCol="0" anchor="t"/>
          <a:lstStyle/>
          <a:p>
            <a:pPr marL="0" indent="0" algn="l">
              <a:lnSpc>
                <a:spcPts val="2700"/>
              </a:lnSpc>
              <a:buNone/>
            </a:pPr>
            <a:r>
              <a:rPr lang="en-US" sz="1650" dirty="0">
                <a:solidFill>
                  <a:srgbClr val="2A2742"/>
                </a:solidFill>
                <a:latin typeface="Arimo" pitchFamily="34" charset="0"/>
                <a:ea typeface="Arimo" pitchFamily="34" charset="-122"/>
                <a:cs typeface="Arimo" pitchFamily="34" charset="-120"/>
              </a:rPr>
              <a:t>Based on the identified plant, the system analyzes visual symptoms to detect possible plant diseases.</a:t>
            </a:r>
            <a:endParaRPr lang="en-US" sz="1650" dirty="0"/>
          </a:p>
        </p:txBody>
      </p:sp>
      <p:pic>
        <p:nvPicPr>
          <p:cNvPr id="13" name="Image 3" descr="preencoded.png"/>
          <p:cNvPicPr>
            <a:picLocks noChangeAspect="1"/>
          </p:cNvPicPr>
          <p:nvPr/>
        </p:nvPicPr>
        <p:blipFill>
          <a:blip r:embed="rId6"/>
          <a:stretch>
            <a:fillRect/>
          </a:stretch>
        </p:blipFill>
        <p:spPr>
          <a:xfrm>
            <a:off x="755333" y="6151245"/>
            <a:ext cx="1079063" cy="1310759"/>
          </a:xfrm>
          <a:prstGeom prst="rect">
            <a:avLst/>
          </a:prstGeom>
        </p:spPr>
      </p:pic>
      <p:sp>
        <p:nvSpPr>
          <p:cNvPr id="14" name="Text 8"/>
          <p:cNvSpPr/>
          <p:nvPr/>
        </p:nvSpPr>
        <p:spPr>
          <a:xfrm>
            <a:off x="2050137" y="6366986"/>
            <a:ext cx="6517600" cy="404574"/>
          </a:xfrm>
          <a:prstGeom prst="rect">
            <a:avLst/>
          </a:prstGeom>
          <a:noFill/>
          <a:ln/>
        </p:spPr>
        <p:txBody>
          <a:bodyPr wrap="none" lIns="0" tIns="0" rIns="0" bIns="0" rtlCol="0" anchor="t"/>
          <a:lstStyle/>
          <a:p>
            <a:pPr marL="0" indent="0" algn="l">
              <a:lnSpc>
                <a:spcPts val="3150"/>
              </a:lnSpc>
              <a:buNone/>
            </a:pPr>
            <a:r>
              <a:rPr lang="en-US" sz="2500" b="1" dirty="0">
                <a:solidFill>
                  <a:srgbClr val="2A2742"/>
                </a:solidFill>
                <a:latin typeface="Outfit Extra Bold" pitchFamily="34" charset="0"/>
                <a:ea typeface="Outfit Extra Bold" pitchFamily="34" charset="-122"/>
                <a:cs typeface="Outfit Extra Bold" pitchFamily="34" charset="-120"/>
              </a:rPr>
              <a:t>Recommendation &amp; User Interaction Module</a:t>
            </a:r>
            <a:endParaRPr lang="en-US" sz="2500" dirty="0"/>
          </a:p>
        </p:txBody>
      </p:sp>
      <p:sp>
        <p:nvSpPr>
          <p:cNvPr id="15" name="Text 9"/>
          <p:cNvSpPr/>
          <p:nvPr/>
        </p:nvSpPr>
        <p:spPr>
          <a:xfrm>
            <a:off x="2050137" y="6900982"/>
            <a:ext cx="11824930" cy="345281"/>
          </a:xfrm>
          <a:prstGeom prst="rect">
            <a:avLst/>
          </a:prstGeom>
          <a:noFill/>
          <a:ln/>
        </p:spPr>
        <p:txBody>
          <a:bodyPr wrap="none" lIns="0" tIns="0" rIns="0" bIns="0" rtlCol="0" anchor="t"/>
          <a:lstStyle/>
          <a:p>
            <a:pPr marL="0" indent="0" algn="l">
              <a:lnSpc>
                <a:spcPts val="2700"/>
              </a:lnSpc>
              <a:buNone/>
            </a:pPr>
            <a:r>
              <a:rPr lang="en-US" sz="1650" dirty="0">
                <a:solidFill>
                  <a:srgbClr val="2A2742"/>
                </a:solidFill>
                <a:latin typeface="Arimo" pitchFamily="34" charset="0"/>
                <a:ea typeface="Arimo" pitchFamily="34" charset="-122"/>
                <a:cs typeface="Arimo" pitchFamily="34" charset="-120"/>
              </a:rPr>
              <a:t>The system provides basic treatment suggestions and plant care guidance, along with chatbot-based user assistance.</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103471"/>
            <a:ext cx="4536519" cy="566976"/>
          </a:xfrm>
          <a:prstGeom prst="rect">
            <a:avLst/>
          </a:prstGeom>
          <a:noFill/>
          <a:ln/>
        </p:spPr>
        <p:txBody>
          <a:bodyPr wrap="none" lIns="0" tIns="0" rIns="0" bIns="0" rtlCol="0" anchor="t"/>
          <a:lstStyle/>
          <a:p>
            <a:pPr marL="0" indent="0" algn="l">
              <a:lnSpc>
                <a:spcPts val="4450"/>
              </a:lnSpc>
              <a:buNone/>
            </a:pPr>
            <a:r>
              <a:rPr lang="en-US" sz="3550" b="1" dirty="0">
                <a:solidFill>
                  <a:srgbClr val="231971"/>
                </a:solidFill>
                <a:latin typeface="Outfit Extra Bold" pitchFamily="34" charset="0"/>
                <a:ea typeface="Outfit Extra Bold" pitchFamily="34" charset="-122"/>
                <a:cs typeface="Outfit Extra Bold" pitchFamily="34" charset="-120"/>
              </a:rPr>
              <a:t>Plan for Future Work</a:t>
            </a:r>
            <a:endParaRPr lang="en-US" sz="3550" dirty="0"/>
          </a:p>
        </p:txBody>
      </p:sp>
      <p:sp>
        <p:nvSpPr>
          <p:cNvPr id="3" name="Shape 1"/>
          <p:cNvSpPr/>
          <p:nvPr/>
        </p:nvSpPr>
        <p:spPr>
          <a:xfrm>
            <a:off x="793790" y="2010608"/>
            <a:ext cx="3090505" cy="5115520"/>
          </a:xfrm>
          <a:prstGeom prst="roundRect">
            <a:avLst>
              <a:gd name="adj" fmla="val 3083"/>
            </a:avLst>
          </a:prstGeom>
          <a:solidFill>
            <a:srgbClr val="E9E6FA"/>
          </a:solidFill>
          <a:ln w="7620">
            <a:solidFill>
              <a:srgbClr val="BDB8DF"/>
            </a:solidFill>
            <a:prstDash val="solid"/>
          </a:ln>
        </p:spPr>
      </p:sp>
      <p:sp>
        <p:nvSpPr>
          <p:cNvPr id="4" name="Shape 2"/>
          <p:cNvSpPr/>
          <p:nvPr/>
        </p:nvSpPr>
        <p:spPr>
          <a:xfrm>
            <a:off x="1028224" y="2245043"/>
            <a:ext cx="680442" cy="680442"/>
          </a:xfrm>
          <a:prstGeom prst="roundRect">
            <a:avLst>
              <a:gd name="adj" fmla="val 13436980"/>
            </a:avLst>
          </a:prstGeom>
          <a:solidFill>
            <a:srgbClr val="5E4CE6"/>
          </a:solidFill>
          <a:ln/>
        </p:spPr>
      </p:sp>
      <p:pic>
        <p:nvPicPr>
          <p:cNvPr id="5" name="Image 0" descr="preencoded.png"/>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1215390" y="2432090"/>
            <a:ext cx="306110" cy="306110"/>
          </a:xfrm>
          <a:prstGeom prst="rect">
            <a:avLst/>
          </a:prstGeom>
        </p:spPr>
      </p:pic>
      <p:sp>
        <p:nvSpPr>
          <p:cNvPr id="6" name="Text 3"/>
          <p:cNvSpPr/>
          <p:nvPr/>
        </p:nvSpPr>
        <p:spPr>
          <a:xfrm>
            <a:off x="1028224" y="3152299"/>
            <a:ext cx="2621637" cy="708660"/>
          </a:xfrm>
          <a:prstGeom prst="rect">
            <a:avLst/>
          </a:prstGeom>
          <a:noFill/>
          <a:ln/>
        </p:spPr>
        <p:txBody>
          <a:bodyPr wrap="square" lIns="0" tIns="0" rIns="0" bIns="0" rtlCol="0" anchor="t"/>
          <a:lstStyle/>
          <a:p>
            <a:pPr marL="0" indent="0" algn="l">
              <a:lnSpc>
                <a:spcPts val="2750"/>
              </a:lnSpc>
              <a:buNone/>
            </a:pPr>
            <a:r>
              <a:rPr lang="en-US" sz="2200" b="1" dirty="0">
                <a:solidFill>
                  <a:srgbClr val="2A2742"/>
                </a:solidFill>
                <a:latin typeface="Outfit Extra Bold" pitchFamily="34" charset="0"/>
                <a:ea typeface="Outfit Extra Bold" pitchFamily="34" charset="-122"/>
                <a:cs typeface="Outfit Extra Bold" pitchFamily="34" charset="-120"/>
              </a:rPr>
              <a:t>Development of a Mobile Application</a:t>
            </a:r>
            <a:endParaRPr lang="en-US" sz="2200" dirty="0"/>
          </a:p>
        </p:txBody>
      </p:sp>
      <p:sp>
        <p:nvSpPr>
          <p:cNvPr id="7" name="Text 4"/>
          <p:cNvSpPr/>
          <p:nvPr/>
        </p:nvSpPr>
        <p:spPr>
          <a:xfrm>
            <a:off x="1028224" y="3997047"/>
            <a:ext cx="2621637" cy="1814513"/>
          </a:xfrm>
          <a:prstGeom prst="rect">
            <a:avLst/>
          </a:prstGeom>
          <a:noFill/>
          <a:ln/>
        </p:spPr>
        <p:txBody>
          <a:bodyPr wrap="square" lIns="0" tIns="0" rIns="0" bIns="0" rtlCol="0" anchor="t"/>
          <a:lstStyle/>
          <a:p>
            <a:pPr marL="0" indent="0" algn="l">
              <a:lnSpc>
                <a:spcPts val="2850"/>
              </a:lnSpc>
              <a:buNone/>
            </a:pPr>
            <a:r>
              <a:rPr lang="en-US" sz="1750" dirty="0">
                <a:solidFill>
                  <a:srgbClr val="2A2742"/>
                </a:solidFill>
                <a:latin typeface="Arimo" pitchFamily="34" charset="0"/>
                <a:ea typeface="Arimo" pitchFamily="34" charset="-122"/>
                <a:cs typeface="Arimo" pitchFamily="34" charset="-120"/>
              </a:rPr>
              <a:t>Extend the current web-based system into a mobile application for improved accessibility and convenience.</a:t>
            </a:r>
            <a:endParaRPr lang="en-US" sz="1750" dirty="0"/>
          </a:p>
        </p:txBody>
      </p:sp>
      <p:sp>
        <p:nvSpPr>
          <p:cNvPr id="8" name="Shape 5"/>
          <p:cNvSpPr/>
          <p:nvPr/>
        </p:nvSpPr>
        <p:spPr>
          <a:xfrm>
            <a:off x="4111109" y="2010608"/>
            <a:ext cx="3090624" cy="5115520"/>
          </a:xfrm>
          <a:prstGeom prst="roundRect">
            <a:avLst>
              <a:gd name="adj" fmla="val 3082"/>
            </a:avLst>
          </a:prstGeom>
          <a:solidFill>
            <a:srgbClr val="E9E6FA"/>
          </a:solidFill>
          <a:ln w="7620">
            <a:solidFill>
              <a:srgbClr val="BDB8DF"/>
            </a:solidFill>
            <a:prstDash val="solid"/>
          </a:ln>
        </p:spPr>
      </p:sp>
      <p:sp>
        <p:nvSpPr>
          <p:cNvPr id="9" name="Shape 6"/>
          <p:cNvSpPr/>
          <p:nvPr/>
        </p:nvSpPr>
        <p:spPr>
          <a:xfrm>
            <a:off x="4345543" y="2245043"/>
            <a:ext cx="680442" cy="680442"/>
          </a:xfrm>
          <a:prstGeom prst="roundRect">
            <a:avLst>
              <a:gd name="adj" fmla="val 13436980"/>
            </a:avLst>
          </a:prstGeom>
          <a:solidFill>
            <a:srgbClr val="5E4CE6"/>
          </a:solidFill>
          <a:ln/>
        </p:spPr>
      </p:sp>
      <p:pic>
        <p:nvPicPr>
          <p:cNvPr id="10" name="Image 1" descr="preencoded.png"/>
          <p:cNvPicPr>
            <a:picLocks noChangeAspect="1"/>
          </p:cNvPicPr>
          <p:nvPr/>
        </p:nvPicPr>
        <p:blipFill>
          <a:blip r:embed="rId3">
            <a:extLst>
              <a:ext uri="{96DAC541-7B7A-43D3-8B79-37D633B846F1}">
                <asvg:svgBlip xmlns:asvg="http://schemas.microsoft.com/office/drawing/2016/SVG/main" xmlns="" r:embed="rId5"/>
              </a:ext>
            </a:extLst>
          </a:blip>
          <a:stretch>
            <a:fillRect/>
          </a:stretch>
        </p:blipFill>
        <p:spPr>
          <a:xfrm>
            <a:off x="4532709" y="2432090"/>
            <a:ext cx="306110" cy="306110"/>
          </a:xfrm>
          <a:prstGeom prst="rect">
            <a:avLst/>
          </a:prstGeom>
        </p:spPr>
      </p:pic>
      <p:sp>
        <p:nvSpPr>
          <p:cNvPr id="11" name="Text 7"/>
          <p:cNvSpPr/>
          <p:nvPr/>
        </p:nvSpPr>
        <p:spPr>
          <a:xfrm>
            <a:off x="4345543" y="3152299"/>
            <a:ext cx="2621756" cy="1062990"/>
          </a:xfrm>
          <a:prstGeom prst="rect">
            <a:avLst/>
          </a:prstGeom>
          <a:noFill/>
          <a:ln/>
        </p:spPr>
        <p:txBody>
          <a:bodyPr wrap="square" lIns="0" tIns="0" rIns="0" bIns="0" rtlCol="0" anchor="t"/>
          <a:lstStyle/>
          <a:p>
            <a:pPr marL="0" indent="0" algn="l">
              <a:lnSpc>
                <a:spcPts val="2750"/>
              </a:lnSpc>
              <a:buNone/>
            </a:pPr>
            <a:r>
              <a:rPr lang="en-US" sz="2200" b="1" dirty="0">
                <a:solidFill>
                  <a:srgbClr val="2A2742"/>
                </a:solidFill>
                <a:latin typeface="Outfit Extra Bold" pitchFamily="34" charset="0"/>
                <a:ea typeface="Outfit Extra Bold" pitchFamily="34" charset="-122"/>
                <a:cs typeface="Outfit Extra Bold" pitchFamily="34" charset="-120"/>
              </a:rPr>
              <a:t>Real-Time Image Capture and Analysis</a:t>
            </a:r>
            <a:endParaRPr lang="en-US" sz="2200" dirty="0"/>
          </a:p>
        </p:txBody>
      </p:sp>
      <p:sp>
        <p:nvSpPr>
          <p:cNvPr id="12" name="Text 8"/>
          <p:cNvSpPr/>
          <p:nvPr/>
        </p:nvSpPr>
        <p:spPr>
          <a:xfrm>
            <a:off x="4345543" y="4351377"/>
            <a:ext cx="2621756" cy="1814513"/>
          </a:xfrm>
          <a:prstGeom prst="rect">
            <a:avLst/>
          </a:prstGeom>
          <a:noFill/>
          <a:ln/>
        </p:spPr>
        <p:txBody>
          <a:bodyPr wrap="square" lIns="0" tIns="0" rIns="0" bIns="0" rtlCol="0" anchor="t"/>
          <a:lstStyle/>
          <a:p>
            <a:pPr marL="0" indent="0" algn="l">
              <a:lnSpc>
                <a:spcPts val="2850"/>
              </a:lnSpc>
              <a:buNone/>
            </a:pPr>
            <a:r>
              <a:rPr lang="en-US" sz="1750" dirty="0">
                <a:solidFill>
                  <a:srgbClr val="2A2742"/>
                </a:solidFill>
                <a:latin typeface="Arimo" pitchFamily="34" charset="0"/>
                <a:ea typeface="Arimo" pitchFamily="34" charset="-122"/>
                <a:cs typeface="Arimo" pitchFamily="34" charset="-120"/>
              </a:rPr>
              <a:t>Enable real-time image capture through mobile devices for faster plant identification and disease analysis.</a:t>
            </a:r>
            <a:endParaRPr lang="en-US" sz="1750" dirty="0"/>
          </a:p>
        </p:txBody>
      </p:sp>
      <p:sp>
        <p:nvSpPr>
          <p:cNvPr id="13" name="Shape 9"/>
          <p:cNvSpPr/>
          <p:nvPr/>
        </p:nvSpPr>
        <p:spPr>
          <a:xfrm>
            <a:off x="7428548" y="2010608"/>
            <a:ext cx="3090624" cy="5115520"/>
          </a:xfrm>
          <a:prstGeom prst="roundRect">
            <a:avLst>
              <a:gd name="adj" fmla="val 3082"/>
            </a:avLst>
          </a:prstGeom>
          <a:solidFill>
            <a:srgbClr val="E9E6FA"/>
          </a:solidFill>
          <a:ln w="7620">
            <a:solidFill>
              <a:srgbClr val="BDB8DF"/>
            </a:solidFill>
            <a:prstDash val="solid"/>
          </a:ln>
        </p:spPr>
      </p:sp>
      <p:sp>
        <p:nvSpPr>
          <p:cNvPr id="14" name="Shape 10"/>
          <p:cNvSpPr/>
          <p:nvPr/>
        </p:nvSpPr>
        <p:spPr>
          <a:xfrm>
            <a:off x="7662982" y="2245043"/>
            <a:ext cx="680442" cy="680442"/>
          </a:xfrm>
          <a:prstGeom prst="roundRect">
            <a:avLst>
              <a:gd name="adj" fmla="val 13436980"/>
            </a:avLst>
          </a:prstGeom>
          <a:solidFill>
            <a:srgbClr val="5E4CE6"/>
          </a:solidFill>
          <a:ln/>
        </p:spPr>
      </p:sp>
      <p:pic>
        <p:nvPicPr>
          <p:cNvPr id="15" name="Image 2" descr="preencoded.png"/>
          <p:cNvPicPr>
            <a:picLocks noChangeAspect="1"/>
          </p:cNvPicPr>
          <p:nvPr/>
        </p:nvPicPr>
        <p:blipFill>
          <a:blip r:embed="rId3">
            <a:extLst>
              <a:ext uri="{96DAC541-7B7A-43D3-8B79-37D633B846F1}">
                <asvg:svgBlip xmlns:asvg="http://schemas.microsoft.com/office/drawing/2016/SVG/main" xmlns="" r:embed="rId6"/>
              </a:ext>
            </a:extLst>
          </a:blip>
          <a:stretch>
            <a:fillRect/>
          </a:stretch>
        </p:blipFill>
        <p:spPr>
          <a:xfrm>
            <a:off x="7850148" y="2432090"/>
            <a:ext cx="306110" cy="306110"/>
          </a:xfrm>
          <a:prstGeom prst="rect">
            <a:avLst/>
          </a:prstGeom>
        </p:spPr>
      </p:pic>
      <p:sp>
        <p:nvSpPr>
          <p:cNvPr id="16" name="Text 11"/>
          <p:cNvSpPr/>
          <p:nvPr/>
        </p:nvSpPr>
        <p:spPr>
          <a:xfrm>
            <a:off x="7662982" y="3152299"/>
            <a:ext cx="2621756" cy="1062990"/>
          </a:xfrm>
          <a:prstGeom prst="rect">
            <a:avLst/>
          </a:prstGeom>
          <a:noFill/>
          <a:ln/>
        </p:spPr>
        <p:txBody>
          <a:bodyPr wrap="square" lIns="0" tIns="0" rIns="0" bIns="0" rtlCol="0" anchor="t"/>
          <a:lstStyle/>
          <a:p>
            <a:pPr marL="0" indent="0" algn="l">
              <a:lnSpc>
                <a:spcPts val="2750"/>
              </a:lnSpc>
              <a:buNone/>
            </a:pPr>
            <a:r>
              <a:rPr lang="en-US" sz="2200" b="1" dirty="0">
                <a:solidFill>
                  <a:srgbClr val="2A2742"/>
                </a:solidFill>
                <a:latin typeface="Outfit Extra Bold" pitchFamily="34" charset="0"/>
                <a:ea typeface="Outfit Extra Bold" pitchFamily="34" charset="-122"/>
                <a:cs typeface="Outfit Extra Bold" pitchFamily="34" charset="-120"/>
              </a:rPr>
              <a:t>Multi-Language Support for Regional Users</a:t>
            </a:r>
            <a:endParaRPr lang="en-US" sz="2200" dirty="0"/>
          </a:p>
        </p:txBody>
      </p:sp>
      <p:sp>
        <p:nvSpPr>
          <p:cNvPr id="17" name="Text 12"/>
          <p:cNvSpPr/>
          <p:nvPr/>
        </p:nvSpPr>
        <p:spPr>
          <a:xfrm>
            <a:off x="7662982" y="4351377"/>
            <a:ext cx="2621756" cy="1814513"/>
          </a:xfrm>
          <a:prstGeom prst="rect">
            <a:avLst/>
          </a:prstGeom>
          <a:noFill/>
          <a:ln/>
        </p:spPr>
        <p:txBody>
          <a:bodyPr wrap="square" lIns="0" tIns="0" rIns="0" bIns="0" rtlCol="0" anchor="t"/>
          <a:lstStyle/>
          <a:p>
            <a:pPr marL="0" indent="0" algn="l">
              <a:lnSpc>
                <a:spcPts val="2850"/>
              </a:lnSpc>
              <a:buNone/>
            </a:pPr>
            <a:r>
              <a:rPr lang="en-US" sz="1750" dirty="0">
                <a:solidFill>
                  <a:srgbClr val="2A2742"/>
                </a:solidFill>
                <a:latin typeface="Arimo" pitchFamily="34" charset="0"/>
                <a:ea typeface="Arimo" pitchFamily="34" charset="-122"/>
                <a:cs typeface="Arimo" pitchFamily="34" charset="-120"/>
              </a:rPr>
              <a:t>Provide support for multiple regional languages to make the system accessible to a wider user base.</a:t>
            </a:r>
            <a:endParaRPr lang="en-US" sz="1750" dirty="0"/>
          </a:p>
        </p:txBody>
      </p:sp>
      <p:sp>
        <p:nvSpPr>
          <p:cNvPr id="18" name="Shape 13"/>
          <p:cNvSpPr/>
          <p:nvPr/>
        </p:nvSpPr>
        <p:spPr>
          <a:xfrm>
            <a:off x="10745986" y="2010608"/>
            <a:ext cx="3090624" cy="5115520"/>
          </a:xfrm>
          <a:prstGeom prst="roundRect">
            <a:avLst>
              <a:gd name="adj" fmla="val 3082"/>
            </a:avLst>
          </a:prstGeom>
          <a:solidFill>
            <a:srgbClr val="E9E6FA"/>
          </a:solidFill>
          <a:ln w="7620">
            <a:solidFill>
              <a:srgbClr val="BDB8DF"/>
            </a:solidFill>
            <a:prstDash val="solid"/>
          </a:ln>
        </p:spPr>
      </p:sp>
      <p:sp>
        <p:nvSpPr>
          <p:cNvPr id="19" name="Shape 14"/>
          <p:cNvSpPr/>
          <p:nvPr/>
        </p:nvSpPr>
        <p:spPr>
          <a:xfrm>
            <a:off x="10980420" y="2245043"/>
            <a:ext cx="680442" cy="680442"/>
          </a:xfrm>
          <a:prstGeom prst="roundRect">
            <a:avLst>
              <a:gd name="adj" fmla="val 13436980"/>
            </a:avLst>
          </a:prstGeom>
          <a:solidFill>
            <a:srgbClr val="5E4CE6"/>
          </a:solidFill>
          <a:ln/>
        </p:spPr>
      </p:sp>
      <p:pic>
        <p:nvPicPr>
          <p:cNvPr id="20" name="Image 3" descr="preencoded.png"/>
          <p:cNvPicPr>
            <a:picLocks noChangeAspect="1"/>
          </p:cNvPicPr>
          <p:nvPr/>
        </p:nvPicPr>
        <p:blipFill>
          <a:blip r:embed="rId3">
            <a:extLst>
              <a:ext uri="{96DAC541-7B7A-43D3-8B79-37D633B846F1}">
                <asvg:svgBlip xmlns:asvg="http://schemas.microsoft.com/office/drawing/2016/SVG/main" xmlns="" r:embed="rId8"/>
              </a:ext>
            </a:extLst>
          </a:blip>
          <a:stretch>
            <a:fillRect/>
          </a:stretch>
        </p:blipFill>
        <p:spPr>
          <a:xfrm>
            <a:off x="11167586" y="2432090"/>
            <a:ext cx="306110" cy="306110"/>
          </a:xfrm>
          <a:prstGeom prst="rect">
            <a:avLst/>
          </a:prstGeom>
        </p:spPr>
      </p:pic>
      <p:sp>
        <p:nvSpPr>
          <p:cNvPr id="21" name="Text 15"/>
          <p:cNvSpPr/>
          <p:nvPr/>
        </p:nvSpPr>
        <p:spPr>
          <a:xfrm>
            <a:off x="10980420" y="3152299"/>
            <a:ext cx="2621756" cy="1062990"/>
          </a:xfrm>
          <a:prstGeom prst="rect">
            <a:avLst/>
          </a:prstGeom>
          <a:noFill/>
          <a:ln/>
        </p:spPr>
        <p:txBody>
          <a:bodyPr wrap="square" lIns="0" tIns="0" rIns="0" bIns="0" rtlCol="0" anchor="t"/>
          <a:lstStyle/>
          <a:p>
            <a:pPr marL="0" indent="0" algn="l">
              <a:lnSpc>
                <a:spcPts val="2750"/>
              </a:lnSpc>
              <a:buNone/>
            </a:pPr>
            <a:r>
              <a:rPr lang="en-US" sz="2200" b="1" dirty="0">
                <a:solidFill>
                  <a:srgbClr val="2A2742"/>
                </a:solidFill>
                <a:latin typeface="Outfit Extra Bold" pitchFamily="34" charset="0"/>
                <a:ea typeface="Outfit Extra Bold" pitchFamily="34" charset="-122"/>
                <a:cs typeface="Outfit Extra Bold" pitchFamily="34" charset="-120"/>
              </a:rPr>
              <a:t>Integration of Environmental Data</a:t>
            </a:r>
            <a:endParaRPr lang="en-US" sz="2200" dirty="0"/>
          </a:p>
        </p:txBody>
      </p:sp>
      <p:sp>
        <p:nvSpPr>
          <p:cNvPr id="22" name="Text 16"/>
          <p:cNvSpPr/>
          <p:nvPr/>
        </p:nvSpPr>
        <p:spPr>
          <a:xfrm>
            <a:off x="10980420" y="4351377"/>
            <a:ext cx="2621756" cy="2540318"/>
          </a:xfrm>
          <a:prstGeom prst="rect">
            <a:avLst/>
          </a:prstGeom>
          <a:noFill/>
          <a:ln/>
        </p:spPr>
        <p:txBody>
          <a:bodyPr wrap="square" lIns="0" tIns="0" rIns="0" bIns="0" rtlCol="0" anchor="t"/>
          <a:lstStyle/>
          <a:p>
            <a:pPr marL="0" indent="0" algn="l">
              <a:lnSpc>
                <a:spcPts val="2850"/>
              </a:lnSpc>
              <a:buNone/>
            </a:pPr>
            <a:r>
              <a:rPr lang="en-US" sz="1750" dirty="0">
                <a:solidFill>
                  <a:srgbClr val="2A2742"/>
                </a:solidFill>
                <a:latin typeface="Arimo" pitchFamily="34" charset="0"/>
                <a:ea typeface="Arimo" pitchFamily="34" charset="-122"/>
                <a:cs typeface="Arimo" pitchFamily="34" charset="-120"/>
              </a:rPr>
              <a:t>Incorporate environmental factors such as climate and location to enhance plant care and recommendation accuracy.</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183481"/>
            <a:ext cx="4536519" cy="566976"/>
          </a:xfrm>
          <a:prstGeom prst="rect">
            <a:avLst/>
          </a:prstGeom>
          <a:noFill/>
          <a:ln/>
        </p:spPr>
        <p:txBody>
          <a:bodyPr wrap="none" lIns="0" tIns="0" rIns="0" bIns="0" rtlCol="0" anchor="t"/>
          <a:lstStyle/>
          <a:p>
            <a:pPr marL="0" indent="0" algn="l">
              <a:lnSpc>
                <a:spcPts val="4450"/>
              </a:lnSpc>
              <a:buNone/>
            </a:pPr>
            <a:r>
              <a:rPr lang="en-US" sz="3550" b="1" dirty="0">
                <a:solidFill>
                  <a:srgbClr val="231971"/>
                </a:solidFill>
                <a:latin typeface="Outfit Extra Bold" pitchFamily="34" charset="0"/>
                <a:ea typeface="Outfit Extra Bold" pitchFamily="34" charset="-122"/>
                <a:cs typeface="Outfit Extra Bold" pitchFamily="34" charset="-120"/>
              </a:rPr>
              <a:t>References</a:t>
            </a:r>
            <a:endParaRPr lang="en-US" sz="3550" dirty="0"/>
          </a:p>
        </p:txBody>
      </p:sp>
      <p:sp>
        <p:nvSpPr>
          <p:cNvPr id="4" name="Text 1"/>
          <p:cNvSpPr/>
          <p:nvPr/>
        </p:nvSpPr>
        <p:spPr>
          <a:xfrm>
            <a:off x="1133951" y="2294692"/>
            <a:ext cx="7216259" cy="1088708"/>
          </a:xfrm>
          <a:prstGeom prst="rect">
            <a:avLst/>
          </a:prstGeom>
          <a:noFill/>
          <a:ln/>
        </p:spPr>
        <p:txBody>
          <a:bodyPr wrap="square" lIns="0" tIns="0" rIns="0" bIns="0" rtlCol="0" anchor="t"/>
          <a:lstStyle/>
          <a:p>
            <a:pPr marL="342900" indent="-342900" algn="l">
              <a:lnSpc>
                <a:spcPts val="2850"/>
              </a:lnSpc>
              <a:buSzPct val="100000"/>
              <a:buFont typeface="+mj-lt"/>
              <a:buAutoNum type="arabicPeriod"/>
            </a:pPr>
            <a:r>
              <a:rPr lang="en-US" sz="1750" dirty="0">
                <a:solidFill>
                  <a:srgbClr val="2A2742"/>
                </a:solidFill>
                <a:latin typeface="Arimo" pitchFamily="34" charset="0"/>
                <a:ea typeface="Arimo" pitchFamily="34" charset="-122"/>
                <a:cs typeface="Arimo" pitchFamily="34" charset="-120"/>
              </a:rPr>
              <a:t>S. P. Mohanty, D. P. Hughes, and M. Salathé, “Using deep learning for image-based plant disease detection,” </a:t>
            </a:r>
            <a:r>
              <a:rPr lang="en-US" sz="1750" i="1" dirty="0">
                <a:solidFill>
                  <a:srgbClr val="2A2742"/>
                </a:solidFill>
                <a:latin typeface="Arimo" pitchFamily="34" charset="0"/>
                <a:ea typeface="Arimo" pitchFamily="34" charset="-122"/>
                <a:cs typeface="Arimo" pitchFamily="34" charset="-120"/>
              </a:rPr>
              <a:t>Frontiers in Plant Science</a:t>
            </a:r>
            <a:r>
              <a:rPr lang="en-US" sz="1750" dirty="0">
                <a:solidFill>
                  <a:srgbClr val="2A2742"/>
                </a:solidFill>
                <a:latin typeface="Arimo" pitchFamily="34" charset="0"/>
                <a:ea typeface="Arimo" pitchFamily="34" charset="-122"/>
                <a:cs typeface="Arimo" pitchFamily="34" charset="-120"/>
              </a:rPr>
              <a:t>, 2016.</a:t>
            </a:r>
            <a:endParaRPr lang="en-US" sz="1750" dirty="0"/>
          </a:p>
        </p:txBody>
      </p:sp>
      <p:sp>
        <p:nvSpPr>
          <p:cNvPr id="5" name="Text 2"/>
          <p:cNvSpPr/>
          <p:nvPr/>
        </p:nvSpPr>
        <p:spPr>
          <a:xfrm>
            <a:off x="1133951" y="3462695"/>
            <a:ext cx="7216259" cy="725805"/>
          </a:xfrm>
          <a:prstGeom prst="rect">
            <a:avLst/>
          </a:prstGeom>
          <a:noFill/>
          <a:ln/>
        </p:spPr>
        <p:txBody>
          <a:bodyPr wrap="square" lIns="0" tIns="0" rIns="0" bIns="0" rtlCol="0" anchor="t"/>
          <a:lstStyle/>
          <a:p>
            <a:pPr marL="342900" indent="-342900" algn="l">
              <a:lnSpc>
                <a:spcPts val="2850"/>
              </a:lnSpc>
              <a:buSzPct val="100000"/>
              <a:buFont typeface="+mj-lt"/>
              <a:buAutoNum type="arabicPeriod" startAt="2"/>
            </a:pPr>
            <a:r>
              <a:rPr lang="en-US" sz="1750" dirty="0">
                <a:solidFill>
                  <a:srgbClr val="2A2742"/>
                </a:solidFill>
                <a:latin typeface="Arimo" pitchFamily="34" charset="0"/>
                <a:ea typeface="Arimo" pitchFamily="34" charset="-122"/>
                <a:cs typeface="Arimo" pitchFamily="34" charset="-120"/>
              </a:rPr>
              <a:t>K. P. Ferentinos, “Deep learning models for plant disease detection and diagnosis,” </a:t>
            </a:r>
            <a:r>
              <a:rPr lang="en-US" sz="1750" i="1" dirty="0">
                <a:solidFill>
                  <a:srgbClr val="2A2742"/>
                </a:solidFill>
                <a:latin typeface="Arimo" pitchFamily="34" charset="0"/>
                <a:ea typeface="Arimo" pitchFamily="34" charset="-122"/>
                <a:cs typeface="Arimo" pitchFamily="34" charset="-120"/>
              </a:rPr>
              <a:t>Computers and Electronics in Agriculture</a:t>
            </a:r>
            <a:r>
              <a:rPr lang="en-US" sz="1750" dirty="0">
                <a:solidFill>
                  <a:srgbClr val="2A2742"/>
                </a:solidFill>
                <a:latin typeface="Arimo" pitchFamily="34" charset="0"/>
                <a:ea typeface="Arimo" pitchFamily="34" charset="-122"/>
                <a:cs typeface="Arimo" pitchFamily="34" charset="-120"/>
              </a:rPr>
              <a:t>, 2018.</a:t>
            </a:r>
            <a:endParaRPr lang="en-US" sz="1750" dirty="0"/>
          </a:p>
        </p:txBody>
      </p:sp>
      <p:sp>
        <p:nvSpPr>
          <p:cNvPr id="6" name="Text 3"/>
          <p:cNvSpPr/>
          <p:nvPr/>
        </p:nvSpPr>
        <p:spPr>
          <a:xfrm>
            <a:off x="1133951" y="4267795"/>
            <a:ext cx="7216259" cy="725805"/>
          </a:xfrm>
          <a:prstGeom prst="rect">
            <a:avLst/>
          </a:prstGeom>
          <a:noFill/>
          <a:ln/>
        </p:spPr>
        <p:txBody>
          <a:bodyPr wrap="square" lIns="0" tIns="0" rIns="0" bIns="0" rtlCol="0" anchor="t"/>
          <a:lstStyle/>
          <a:p>
            <a:pPr marL="342900" indent="-342900" algn="l">
              <a:lnSpc>
                <a:spcPts val="2850"/>
              </a:lnSpc>
              <a:buSzPct val="100000"/>
              <a:buFont typeface="+mj-lt"/>
              <a:buAutoNum type="arabicPeriod" startAt="3"/>
            </a:pPr>
            <a:r>
              <a:rPr lang="en-US" sz="1750" dirty="0">
                <a:solidFill>
                  <a:srgbClr val="2A2742"/>
                </a:solidFill>
                <a:latin typeface="Arimo" pitchFamily="34" charset="0"/>
                <a:ea typeface="Arimo" pitchFamily="34" charset="-122"/>
                <a:cs typeface="Arimo" pitchFamily="34" charset="-120"/>
              </a:rPr>
              <a:t>A. Saleem, J. Potgieter, and K. M. Arif, “Plant disease detection and classification by deep learning: A review,” </a:t>
            </a:r>
            <a:r>
              <a:rPr lang="en-US" sz="1750" i="1" dirty="0">
                <a:solidFill>
                  <a:srgbClr val="2A2742"/>
                </a:solidFill>
                <a:latin typeface="Arimo" pitchFamily="34" charset="0"/>
                <a:ea typeface="Arimo" pitchFamily="34" charset="-122"/>
                <a:cs typeface="Arimo" pitchFamily="34" charset="-120"/>
              </a:rPr>
              <a:t>Plants</a:t>
            </a:r>
            <a:r>
              <a:rPr lang="en-US" sz="1750" dirty="0">
                <a:solidFill>
                  <a:srgbClr val="2A2742"/>
                </a:solidFill>
                <a:latin typeface="Arimo" pitchFamily="34" charset="0"/>
                <a:ea typeface="Arimo" pitchFamily="34" charset="-122"/>
                <a:cs typeface="Arimo" pitchFamily="34" charset="-120"/>
              </a:rPr>
              <a:t>, 2019.</a:t>
            </a:r>
            <a:endParaRPr lang="en-US" sz="1750" dirty="0"/>
          </a:p>
        </p:txBody>
      </p:sp>
      <p:sp>
        <p:nvSpPr>
          <p:cNvPr id="7" name="Text 4"/>
          <p:cNvSpPr/>
          <p:nvPr/>
        </p:nvSpPr>
        <p:spPr>
          <a:xfrm>
            <a:off x="1133951" y="5072896"/>
            <a:ext cx="7216259" cy="1088708"/>
          </a:xfrm>
          <a:prstGeom prst="rect">
            <a:avLst/>
          </a:prstGeom>
          <a:noFill/>
          <a:ln/>
        </p:spPr>
        <p:txBody>
          <a:bodyPr wrap="square" lIns="0" tIns="0" rIns="0" bIns="0" rtlCol="0" anchor="t"/>
          <a:lstStyle/>
          <a:p>
            <a:pPr marL="342900" indent="-342900" algn="l">
              <a:lnSpc>
                <a:spcPts val="2850"/>
              </a:lnSpc>
              <a:buSzPct val="100000"/>
              <a:buFont typeface="+mj-lt"/>
              <a:buAutoNum type="arabicPeriod" startAt="4"/>
            </a:pPr>
            <a:r>
              <a:rPr lang="en-US" sz="1750" dirty="0">
                <a:solidFill>
                  <a:srgbClr val="2A2742"/>
                </a:solidFill>
                <a:latin typeface="Arimo" pitchFamily="34" charset="0"/>
                <a:ea typeface="Arimo" pitchFamily="34" charset="-122"/>
                <a:cs typeface="Arimo" pitchFamily="34" charset="-120"/>
              </a:rPr>
              <a:t>R. Ramesh and R. S. K. M. Reddy, “Decision support systems in agriculture: A survey,” </a:t>
            </a:r>
            <a:r>
              <a:rPr lang="en-US" sz="1750" i="1" dirty="0">
                <a:solidFill>
                  <a:srgbClr val="2A2742"/>
                </a:solidFill>
                <a:latin typeface="Arimo" pitchFamily="34" charset="0"/>
                <a:ea typeface="Arimo" pitchFamily="34" charset="-122"/>
                <a:cs typeface="Arimo" pitchFamily="34" charset="-120"/>
              </a:rPr>
              <a:t>International Journal of Computer Applications</a:t>
            </a:r>
            <a:r>
              <a:rPr lang="en-US" sz="1750" dirty="0">
                <a:solidFill>
                  <a:srgbClr val="2A2742"/>
                </a:solidFill>
                <a:latin typeface="Arimo" pitchFamily="34" charset="0"/>
                <a:ea typeface="Arimo" pitchFamily="34" charset="-122"/>
                <a:cs typeface="Arimo" pitchFamily="34" charset="-120"/>
              </a:rPr>
              <a:t>, 2014.</a:t>
            </a:r>
            <a:endParaRPr lang="en-US" sz="1750" dirty="0"/>
          </a:p>
        </p:txBody>
      </p:sp>
      <p:sp>
        <p:nvSpPr>
          <p:cNvPr id="8" name="Text 5"/>
          <p:cNvSpPr/>
          <p:nvPr/>
        </p:nvSpPr>
        <p:spPr>
          <a:xfrm>
            <a:off x="1133951" y="6240899"/>
            <a:ext cx="7216259" cy="725805"/>
          </a:xfrm>
          <a:prstGeom prst="rect">
            <a:avLst/>
          </a:prstGeom>
          <a:noFill/>
          <a:ln/>
        </p:spPr>
        <p:txBody>
          <a:bodyPr wrap="square" lIns="0" tIns="0" rIns="0" bIns="0" rtlCol="0" anchor="t"/>
          <a:lstStyle/>
          <a:p>
            <a:pPr marL="342900" indent="-342900" algn="l">
              <a:lnSpc>
                <a:spcPts val="2850"/>
              </a:lnSpc>
              <a:buSzPct val="100000"/>
              <a:buFont typeface="+mj-lt"/>
              <a:buAutoNum type="arabicPeriod" startAt="5"/>
            </a:pPr>
            <a:r>
              <a:rPr lang="en-US" sz="1750" dirty="0">
                <a:solidFill>
                  <a:srgbClr val="2A2742"/>
                </a:solidFill>
                <a:latin typeface="Arimo" pitchFamily="34" charset="0"/>
                <a:ea typeface="Arimo" pitchFamily="34" charset="-122"/>
                <a:cs typeface="Arimo" pitchFamily="34" charset="-120"/>
              </a:rPr>
              <a:t>Google AI, “Vision-Language Models and Generative AI Documentation,” Google Developers, 2024.</a:t>
            </a:r>
            <a:endParaRPr lang="en-US" sz="1750" dirty="0"/>
          </a:p>
        </p:txBody>
      </p:sp>
      <p:sp>
        <p:nvSpPr>
          <p:cNvPr id="9" name="Shape 6"/>
          <p:cNvSpPr/>
          <p:nvPr/>
        </p:nvSpPr>
        <p:spPr>
          <a:xfrm>
            <a:off x="793790" y="2090618"/>
            <a:ext cx="30480" cy="4955381"/>
          </a:xfrm>
          <a:prstGeom prst="rect">
            <a:avLst/>
          </a:prstGeom>
          <a:solidFill>
            <a:srgbClr val="5E4CE6"/>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2541270"/>
            <a:ext cx="13042821"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3" name="Text 1"/>
          <p:cNvSpPr/>
          <p:nvPr/>
        </p:nvSpPr>
        <p:spPr>
          <a:xfrm>
            <a:off x="793790" y="3159323"/>
            <a:ext cx="13042821"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4" name="Text 2"/>
          <p:cNvSpPr/>
          <p:nvPr/>
        </p:nvSpPr>
        <p:spPr>
          <a:xfrm>
            <a:off x="4479846" y="3862388"/>
            <a:ext cx="5670590" cy="708779"/>
          </a:xfrm>
          <a:prstGeom prst="rect">
            <a:avLst/>
          </a:prstGeom>
          <a:noFill/>
          <a:ln/>
        </p:spPr>
        <p:txBody>
          <a:bodyPr wrap="none" lIns="0" tIns="0" rIns="0" bIns="0" rtlCol="0" anchor="t"/>
          <a:lstStyle/>
          <a:p>
            <a:pPr marL="0" indent="0" algn="ctr">
              <a:lnSpc>
                <a:spcPts val="5550"/>
              </a:lnSpc>
              <a:buNone/>
            </a:pPr>
            <a:r>
              <a:rPr lang="en-US" sz="4450" b="1" dirty="0">
                <a:solidFill>
                  <a:srgbClr val="231971"/>
                </a:solidFill>
                <a:latin typeface="Outfit Extra Bold" pitchFamily="34" charset="0"/>
                <a:ea typeface="Outfit Extra Bold" pitchFamily="34" charset="-122"/>
                <a:cs typeface="Outfit Extra Bold" pitchFamily="34" charset="-120"/>
              </a:rPr>
              <a:t>Thank You !</a:t>
            </a:r>
            <a:endParaRPr lang="en-US" sz="4450" dirty="0"/>
          </a:p>
        </p:txBody>
      </p:sp>
      <p:sp>
        <p:nvSpPr>
          <p:cNvPr id="5" name="Text 3"/>
          <p:cNvSpPr/>
          <p:nvPr/>
        </p:nvSpPr>
        <p:spPr>
          <a:xfrm>
            <a:off x="793790" y="4911328"/>
            <a:ext cx="13042821"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6" name="Text 4"/>
          <p:cNvSpPr/>
          <p:nvPr/>
        </p:nvSpPr>
        <p:spPr>
          <a:xfrm>
            <a:off x="793790" y="5529382"/>
            <a:ext cx="13042821" cy="362903"/>
          </a:xfrm>
          <a:prstGeom prst="rect">
            <a:avLst/>
          </a:prstGeom>
          <a:noFill/>
          <a:ln/>
        </p:spPr>
        <p:txBody>
          <a:bodyPr wrap="none" lIns="0" tIns="0" rIns="0" bIns="0" rtlCol="0" anchor="t"/>
          <a:lstStyle/>
          <a:p>
            <a:pPr marL="0" indent="0" algn="l">
              <a:lnSpc>
                <a:spcPts val="2850"/>
              </a:lnSpc>
              <a:buNone/>
            </a:pP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733</Words>
  <Application>Microsoft Office PowerPoint</Application>
  <PresentationFormat>Custom</PresentationFormat>
  <Paragraphs>75</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Outfit Extra Bold</vt:lpstr>
      <vt:lpstr>Arimo</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Prayas</cp:lastModifiedBy>
  <cp:revision>2</cp:revision>
  <dcterms:created xsi:type="dcterms:W3CDTF">2026-01-08T11:17:06Z</dcterms:created>
  <dcterms:modified xsi:type="dcterms:W3CDTF">2026-01-08T11:20:31Z</dcterms:modified>
</cp:coreProperties>
</file>